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人数（万人）</c:v>
                </c:pt>
              </c:strCache>
            </c:strRef>
          </c:tx>
          <c:spPr>
            <a:solidFill>
              <a:srgbClr val="CC8672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8"/>
                    </a:solidFill>
                    <a:latin typeface="Yu Gothic Medium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86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86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86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233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税理士</c:v>
                  </c:pt>
                  <c:pt idx="1">
                    <c:v>生保の営業職員</c:v>
                  </c:pt>
                  <c:pt idx="2">
                    <c:v>保険募集人</c:v>
                  </c:pt>
                  <c:pt idx="3">
                    <c:v>FP資格（延べ）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24</c:v>
                </c:pt>
                <c:pt idx="2">
                  <c:v>91</c:v>
                </c:pt>
                <c:pt idx="3">
                  <c:v>173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200" u="none">
                  <a:solidFill>
                    <a:srgbClr val="1F2A38"/>
                  </a:solidFill>
                  <a:latin typeface="Yu Gothic Medium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6572"/>
                </a:solidFill>
                <a:latin typeface="Yu Gothic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表紙。ゴールは2つ——①「会計、自分にもできそう」を口に出させる ②「この人は尊敬できる」を行動で獲得（②は台本に出さない）。“相談役”はcoverQuoteAccentで朱が乗る。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3つのお約束。emphasisなし＝3つは等価の約束（どれか1つが主役ではない）。厳しさはclosing帯で言い切り、理由を小声で添える。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今日は“技術”を教えない、と口頭で宣言（スライドには書かない＝先回り禁止）。この一言だけ持ち帰れば今日は成功、技術はDay2から——と話す。3秒スライド。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【図解】構造1語＝sequence（経歴の順序が意味を運ぶ）→flow。【emphasis=0】主役は出発点の「三井住友海上」＝“僕もあなたと同じ保険出身”という共感の証拠。到達点ではなく入口を光らせる。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emphasisなし＝2つは等価の信頼材料（教える実績×保険の現場感）。数字の自慢はしない——次ページで全部ひっくり返すため、ここは淡々と。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転換点①】期待→不穏。ここで部屋の空気を落とす（情報を処理させるページは白、感情を刻むページは紺）。【ダーク連続の意図】次の章扉P7と意図的に連続——転換宣言のまま空気を戻さず失敗の章へ落とすため（DARK-RUN許容の根拠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章扉（chapterスタイル・透かし数字なし）。前ページからの意図的ダーク連続（P6のnotes参照）。一呼吸おいて章題だけ読む。3秒スライド。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【emphasis=0】主役は「構造を見ない投資」＝4つの失敗の共通根であり、P11「会計を知らなかった」への伏線。他3枚は形を変えた同じ失敗。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転換点②】どん底の入口。数字がこのページの主役（型D：warn＝痛みの色。ブランド色ではなく意味で塗る）。【ダーク連続の意図】次のP10と“どん底2連”——痛みの数字→動けなくなった朝、と沈み切るための意図的連続（DARK-RUN許容の根拠）。金額は概算と明記（誠実ガー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【転換点③】どん底の底。具体シーン（革靴）で刻む。payloadは白のまま＝色より沈黙で語る。前ページからのどん底2連はP9のnotesの通り意図的。読み上げたら3秒黙る。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どん底からの種明かし＝白に戻す（処理させる情報）。message3連（P9-P11）はどん底の谷の statement 連続として意図的——密度の高い3連ではなく3秒スライドの連なり。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誤解→正解のリフレーム（同じ「会計の捉え方」を二度見る＝before-afterの適用条件を満たす）。beforeを戯画化しない。afterが固定の主役。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共感の回収。emphasisなし＝4つの反応は等価（どれに頷いてもいい）。チャットで「どれに当てはまる？」と拾う双方向ポイント。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解】構造＝行×列の正確な対応→table（構成書の指定も「表で見せる」）。管理会計の行を最下段に置く＝系列位置効果（結論行は末尾）。「これから」だけが違う、はまだ言わない——次ページの種明かしに取っておく（先回り禁止）。dwell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【emphasis=0】主役は「これから」＝前ページの表で唯一違った時間軸であり、このデッキ全体の鍵語。同じ概念は同じ強調（座標文法）：以後“これから”は常にこの意味で使う。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ハードルを下げる安心のリフレーム（同じ「必要な会計レベル」を二度見る）。P12と同型だが隣接していないので型の再利用は可。afterの「一緒に読める」が本デッキの到達点の定義。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【転換点④】どん底の物語からビジョンへ＝高揚の紺。payloadに朱（accentOnDark）＝成果・決意の色。ここだけは自分の言葉で熱く話す（スライドは3行のまま）。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問いの3秒スライド。チャットに数字を書かせてもいい。答えは次ページ——ここでは絶対に言わない。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解】構造1語＝ranking（規模比較は実寸横棒が正準形）。値は昇順で渡し最大が最上段。【emphasizeIndex=3】主役はFP延べ173万＝聴衆自身。税理士が少ない話ではなく「あなたたちは多いのに座っていない」話。数字は概数と明記（誠実ガード）。dwell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emphasis=0】主役は127万社＝席が空いている規模感。先頭カード（アンカリング：最初の数字が基準になる）。黒字廃業＝“これから”を一緒に考える人がいれば残れたかもしれない会社、と口頭で接続。出典は概数と明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信頼シフト版の核＝正直開示。売り込み警戒を先に外す。淡々と、白いページで（煽らない）。「案内は最後の10分だけ。受けるかはあなたの自由」と口頭で補足。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【emphasis=1】主役は「あなた（FP）」＝聴衆。三方の真ん中に聴衆を置く。closing帯が§7の種明かし＝「なぜあなたに教えるのか」の答え。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章扉2。ここから手を動かす章（ワーク）。3秒スライド。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解】正準形「書類風ミニチュア」はエンジンGAPのためtableで代替（canonカタログの指示どおり縦計算は一致：120,000−72,000＝48,000／48,000−36,000＝12,000、前期も108−66＝42／42−33＝9）。読めない体験をさせるページ——閉じの帯で「それでいい」と抱き起こす。dwell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既知→未知の絶対順序：左＝いつもの仕事（既知）、右＝会計の言葉（未知）。【emphasis=1】主役は右＝新しい名前。3行は左右で1対1対応。closingがこのページの種明かし。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【図解】構造1語＝identity（積み上げ恒等式）＝BSの正準形（canonカタログ会計行）。formulaで箱を＝で繋ぐ額装にしない。縦計算：2,500＋1,000＝3,500 一致。【emphasis=1】主役は正味の財産＝“残り”が主役（カタログ指示）。口頭では引き算で語り、図は恒等式で見せる。dwellスライド。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解】構造1語＝sequence（ワークの手順そのもの＝順序が意味を運ぶ）→flow。【peak】デッキの山場＝ゴール①「会計、自分にもできそう」を体感で証明する瞬間。パンチライン「はい、いま、あなたはBSを作りました」はスライドに書かず口頭で落とす（先回り禁止——言うか書くかは一拍おいて“言う”を選択）。【emphasis=2】主役は「引き算する」＝それが会計になる一歩。30秒本当に黙って待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【図解】構造1語＝identity＋入れ子（STRACの家計版＝canonカタログFP行「家計の収支＋自由なお金の内訳」）。縦計算：30＋70＝100／50＋20＝70 一致。【subEmphasis=1】主役は「自由なお金」＝残りが主役。収入100は説明用の指数とkickerに明記（誠実ガード）。dwellスライド。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知（個人＝左）→未知（法人＝右）。2行は1対1対応（上＝BS、下＝PL）。【emphasis=1】主役は右＝法人。closing帯がP29の種明かし。P24の「読めなかった決算書」がここで既知の形に変わる——口頭でP24に差し戻して回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【emphasis=0】主役はDay 2＝直近の行動（明日も来る）。番号丸の2・3がそのままDay番号に対応。Day2の“謎”は今夜の宿題（BS）が伏線になる、と口頭で接続。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【emphasis=2】主役は「投稿」＝本デッキのゴール行動。書くだけで終わらせない。宿題＝会計を自分ごとにする装置であり、Day2の教材にもなる。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結び。行動はただ1つ＝今夜のBS投稿。締めの2行は今日の全部の要約（P3の約束の回収＋P20の席の回収）。読み上げたら静かに終わる。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383280"/>
            <a:ext cx="6583680" cy="658368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77240" y="145846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法人開拓FPのための3日間チャレンジ｜DAY 1（60分）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91440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保険営業から、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社長の</a:t>
            </a:r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D98A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“相談役”</a:t>
            </a:r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AAB6C4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会計を、お客様と自分を守る力に変える3日間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1｜オンライン開催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はじめる前に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3つ、約束できますか？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40487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5234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顔出し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209544"/>
            <a:ext cx="2753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カメラは常にON。表情の見える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場にします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44898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9218" y="240487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9218" y="275234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コメント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19218" y="3209544"/>
            <a:ext cx="2753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問いかけには、必ず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反応を返してください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12557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86877" y="240487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6877" y="275234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投稿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86877" y="3209544"/>
            <a:ext cx="2753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毎晩の宿題を、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FBグループに出してください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守れないときは、退出をお願いします。</a:t>
            </a:r>
            <a:endParaRPr lang="en-US" sz="19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本気の人だけの場にするためです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今日のゴール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持ち帰ってほしいのは、一言だけ。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「会計、自分にもできそう」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自己紹介①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僕も、保険の世界の出身です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42562" y="4046220"/>
            <a:ext cx="420624" cy="0"/>
          </a:xfrm>
          <a:prstGeom prst="line">
            <a:avLst/>
          </a:prstGeom>
          <a:noFill/>
          <a:ln w="31750">
            <a:solidFill>
              <a:srgbClr val="A6432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28509" y="4046220"/>
            <a:ext cx="420624" cy="0"/>
          </a:xfrm>
          <a:prstGeom prst="line">
            <a:avLst/>
          </a:prstGeom>
          <a:noFill/>
          <a:ln w="31750">
            <a:solidFill>
              <a:srgbClr val="A6432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A6432E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77800" dist="76200" dir="5400000">
              <a:srgbClr val="1F2A38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23544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218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三井住友海上</a:t>
            </a:r>
            <a:endParaRPr lang="en-US" sz="2180" dirty="0"/>
          </a:p>
        </p:txBody>
      </p:sp>
      <p:sp>
        <p:nvSpPr>
          <p:cNvPr id="9" name="Shape 7"/>
          <p:cNvSpPr/>
          <p:nvPr/>
        </p:nvSpPr>
        <p:spPr>
          <a:xfrm>
            <a:off x="4463186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EFEBE2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9490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保険代理店で独立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49133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EFEBE2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95437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会計の会社の代表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自己紹介②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いまは、“会計を教える側”にいます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保険の現場を離れたいまは、会計を“使える人”を増やす仕事をしています。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A6432E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上場企業・銀行で会計研修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経理向けではなく、役員や営業が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“使う”ための会計を教えています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A6432E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TOTのLPと共同経営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保険営業の最前線と、会計の現場。両方を知る立場です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91640"/>
            <a:ext cx="103628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この経歴、じつは順番が逆です。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000" b="1" spc="-20" kern="0" dirty="0">
                <a:solidFill>
                  <a:srgbClr val="D98A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全部、“失敗”から始まった。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900" b="1" spc="-20" kern="0" dirty="0">
                <a:solidFill>
                  <a:srgbClr val="AAB6C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——人生最大の、失敗の話をします。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失敗の話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37490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700" dirty="0">
                <a:solidFill>
                  <a:srgbClr val="AAB6C4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数字から逃げた男の話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数々の失敗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失敗は、一つじゃありませんでした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865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構造を見ない投資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8437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数字を確かめず、話の勢いで大金を張った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22402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3865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焦りの上塗り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3048" y="28437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損を取り返そうと、さらに大きく張った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1833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3296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“分散”の勘違い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51560" y="47868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散らせば安全だと思い、全部が中途半端に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8728" y="41833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43296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広げすぎた事業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53048" y="47868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管理できる範囲を超えて、手を出し続けた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損害は、トータルで——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95A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約10億円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2377440" y="480060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※投資・事業の失敗による累計の損害額（概算）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3628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ある朝、革靴を履いた瞬間。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0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足が、動かなくなった。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900" b="1" spc="-20" kern="0" dirty="0">
                <a:solidFill>
                  <a:srgbClr val="AAB6C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——ここから、本当の仕事が始まりました。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僕は、「会計」を知らなかった。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決算書の数字も、読めていなかった。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気づき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会計は、武器である前に“防具”でした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4632808" cy="3611880"/>
          </a:xfrm>
          <a:prstGeom prst="roundRect">
            <a:avLst>
              <a:gd name="adj" fmla="val 253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1648" y="2286000"/>
            <a:ext cx="4632808" cy="3611880"/>
          </a:xfrm>
          <a:prstGeom prst="roundRect">
            <a:avLst>
              <a:gd name="adj" fmla="val 2532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19776" y="3799332"/>
            <a:ext cx="1152144" cy="585216"/>
          </a:xfrm>
          <a:prstGeom prst="rightArrow">
            <a:avLst/>
          </a:prstGeom>
          <a:solidFill>
            <a:srgbClr val="A6432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517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失敗する前の僕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88720" y="3337560"/>
            <a:ext cx="3809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会計は、稼ぐための武器。専門家が使う、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難しい技術だと思っていた。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3128" y="26517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どん底で気づいたこと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193128" y="3337560"/>
            <a:ext cx="3809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会計は、自分とお客様を守る“防具”。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構造が見えれば、致命傷を避けられる。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そもそも、会計って何？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会計と聞いて、こう感じていませんか？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865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難しそう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8437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簿記・仕訳・専門用語……入口で心が折れる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22402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3865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税金の話でしょ？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3048" y="28437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節税なら、税理士さんの領域だし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1833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3296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先生に任せている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51560" y="47868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決算書は、届いたら預けるものだと思っていた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8728" y="41833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43296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自分には関係ない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53048" y="47868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営業の仕事に、数字は要らないと思っていた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そもそも、会計とは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“会計”は、ひとつではありません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誰のため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何のため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見る時間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財務会計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株主・銀行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実績の報告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過去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税務会計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税務署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正しい納税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過去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管理会計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社長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経営の意思決定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これから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0533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※セミナー用に簡略化した整理です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3つのうち、どれが大事？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社長に必要なのは、管理会計です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財務会計も税務会計も、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終わった“過去”を写す鏡。社長が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知りたいのは、いつも“これから”です。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82331F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見るのは「これから」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過去の報告ではなく、この先どうするかの数字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A6432E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読む人は「社長」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税務署でも銀行でもなく、経営する本人のため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4956048"/>
            <a:ext cx="420624" cy="420624"/>
          </a:xfrm>
          <a:prstGeom prst="ellipse">
            <a:avLst/>
          </a:prstGeom>
          <a:solidFill>
            <a:srgbClr val="A6432E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4910328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目的は「意思決定」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01384" y="5358384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正解探しではなく、次の一手を決めるため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安心してください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専門家になる必要は、ありません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4632808" cy="3611880"/>
          </a:xfrm>
          <a:prstGeom prst="roundRect">
            <a:avLst>
              <a:gd name="adj" fmla="val 253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1648" y="2286000"/>
            <a:ext cx="4632808" cy="3611880"/>
          </a:xfrm>
          <a:prstGeom prst="roundRect">
            <a:avLst>
              <a:gd name="adj" fmla="val 2532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19776" y="3799332"/>
            <a:ext cx="1152144" cy="585216"/>
          </a:xfrm>
          <a:prstGeom prst="rightArrow">
            <a:avLst/>
          </a:prstGeom>
          <a:solidFill>
            <a:srgbClr val="A6432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517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よくある誤解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88720" y="3337560"/>
            <a:ext cx="3809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簿記を学び、仕訳を覚え、税理士のような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知識が要る——だから無理だ。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3128" y="26517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目指す場所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193128" y="3337560"/>
            <a:ext cx="3809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社長と“一緒に決算書を読める”。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それだけで、相談相手は務まります。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なぜ、この仕事をやるのか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3628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保険も、研修も、この3日間も。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000" b="1" spc="-20" kern="0" dirty="0">
                <a:solidFill>
                  <a:srgbClr val="D98A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数字に強い経営者を、増やす。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900" b="1" spc="-20" kern="0" dirty="0">
                <a:solidFill>
                  <a:srgbClr val="AAB6C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——全部、その一本の線の上にあります。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ここで、質問です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経営者の“数字”に関われる人は、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この国にどれだけいるでしょう？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担い手の数（全国・概数）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担い手の数なら、あなたたちが圧倒的です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089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8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単位：万人（各団体公表値をもとにした概数）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2194560"/>
            <a:ext cx="3596335" cy="3520440"/>
          </a:xfrm>
          <a:prstGeom prst="roundRect">
            <a:avLst>
              <a:gd name="adj" fmla="val 2597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02168" y="2560320"/>
            <a:ext cx="2828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8.2万人 vs 173万人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02168" y="3456432"/>
            <a:ext cx="282823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数では圧倒的。でも経営者の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“これから”の数字の隣には、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まだ誰も座っていません。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経営の現場で、いま起きていること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社長の“相談相手”の席が、空いています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7446805" cy="3154680"/>
          </a:xfrm>
          <a:prstGeom prst="roundRect">
            <a:avLst>
              <a:gd name="adj" fmla="val 2899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926080"/>
            <a:ext cx="671528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127</a:t>
            </a:r>
            <a:pPr algn="l" indent="0" marL="0">
              <a:buNone/>
            </a:pPr>
            <a:r>
              <a:rPr lang="en-US" sz="34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万社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143000" y="4114800"/>
            <a:ext cx="67152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後継者が未定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590288"/>
            <a:ext cx="6715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中小企業の推計（経産省公表値・概数）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89805" y="2468880"/>
            <a:ext cx="2824650" cy="3154680"/>
          </a:xfrm>
          <a:prstGeom prst="roundRect">
            <a:avLst>
              <a:gd name="adj" fmla="val 3237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55565" y="2926080"/>
            <a:ext cx="20931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約6割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955565" y="4114800"/>
            <a:ext cx="209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黒字のまま休廃業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955565" y="4590288"/>
            <a:ext cx="20931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休廃業企業に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占める黒字の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割合（民間調査・概数）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先に、正直に言います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最終日に、有料講座の案内をします。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今日と明日は、全部無料で渡します。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三方よし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全員が、前に進む仕組みです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8658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経営者よし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843784"/>
            <a:ext cx="275325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“これから”の数字を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一緒に見る相手ができる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44898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9218" y="238658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あなたよし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19218" y="2843784"/>
            <a:ext cx="275325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保険の前に、数字で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信頼される理由ができる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12557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6877" y="238658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社会よし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86877" y="2843784"/>
            <a:ext cx="275325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数字に強い会社が増え、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残る会社が増える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だから僕は、あなたに会計を教えます。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会計は、難しくない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37490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700" dirty="0">
                <a:solidFill>
                  <a:srgbClr val="AAB6C4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個人も、法人も、同じです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会社の決算書（損益計算書）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この決算書、読めますか？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7215" cy="914400"/>
        </p:xfrm>
        <a:graphic>
          <a:graphicData uri="http://schemas.openxmlformats.org/drawingml/2006/table">
            <a:tbl>
              <a:tblPr/>
              <a:tblGrid>
                <a:gridCol w="3545738"/>
                <a:gridCol w="3545738"/>
                <a:gridCol w="354573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科目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当期（千円）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前期（千円）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売上高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120,000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108,000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売上原価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72,000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66,000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売上総利益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48,000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42,000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販売費及び一般管理費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36,000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33,000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営業利益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12,000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9,000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読めなくて、当たり前です。</a:t>
            </a:r>
            <a:endParaRPr lang="en-US" sz="19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※数字は架空の例（単位：千円）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個人のお客様への、いつもの仕事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その仕事、じつは“会計”です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090008" cy="3017520"/>
          </a:xfrm>
          <a:prstGeom prst="roundRect">
            <a:avLst>
              <a:gd name="adj" fmla="val 3030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24448" y="2286000"/>
            <a:ext cx="5090008" cy="3017520"/>
          </a:xfrm>
          <a:prstGeom prst="roundRect">
            <a:avLst>
              <a:gd name="adj" fmla="val 3030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6700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いつもの保険営業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318211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個人のお客様に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4175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資産と負債を聞き取る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収入と支出を整理する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将来のお金の流れを描く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81648" y="26700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会計の言葉では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81648" y="318211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呼び名が変わるだけ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1648" y="3703320"/>
            <a:ext cx="4175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それは、BS（財産の一覧）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それは、PL（お金の流れ）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それは、資金繰りの計画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あなたは、もう会計をやっている。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ある家庭の例（※架空の数字）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持ち物−借金＝正味の財産。これがBSです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537460"/>
            <a:ext cx="4998568" cy="3017520"/>
          </a:xfrm>
          <a:prstGeom prst="roundRect">
            <a:avLst>
              <a:gd name="adj" fmla="val 3030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2683764"/>
            <a:ext cx="47059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持ち物（資産）</a:t>
            </a:r>
            <a:endParaRPr lang="en-US" sz="19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3,500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75808" y="25374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15888" y="2537460"/>
            <a:ext cx="4998568" cy="2076994"/>
          </a:xfrm>
          <a:prstGeom prst="roundRect">
            <a:avLst>
              <a:gd name="adj" fmla="val 4403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2192" y="2683764"/>
            <a:ext cx="4705960" cy="178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借金（ローン）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2,500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15888" y="4724182"/>
            <a:ext cx="4998568" cy="830798"/>
          </a:xfrm>
          <a:prstGeom prst="roundRect">
            <a:avLst>
              <a:gd name="adj" fmla="val 11006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2192" y="4870486"/>
            <a:ext cx="4705960" cy="53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正味の財産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1,000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6089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8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単位：万円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30秒ワーク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頭の中だけで、やってみましょう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42562" y="4046220"/>
            <a:ext cx="420624" cy="0"/>
          </a:xfrm>
          <a:prstGeom prst="line">
            <a:avLst/>
          </a:prstGeom>
          <a:noFill/>
          <a:ln w="31750">
            <a:solidFill>
              <a:srgbClr val="A6432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28509" y="4046220"/>
            <a:ext cx="420624" cy="0"/>
          </a:xfrm>
          <a:prstGeom prst="line">
            <a:avLst/>
          </a:prstGeom>
          <a:noFill/>
          <a:ln w="31750">
            <a:solidFill>
              <a:srgbClr val="A6432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EFEBE2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23544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持ち物を3つ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463186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EFEBE2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9490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借金を1つ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49133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A6432E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77800" dist="76200" dir="5400000">
              <a:srgbClr val="1F2A38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95437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247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引き算する</a:t>
            </a:r>
            <a:endParaRPr lang="en-US" sz="2470" dirty="0"/>
          </a:p>
        </p:txBody>
      </p:sp>
      <p:sp>
        <p:nvSpPr>
          <p:cNvPr id="13" name="Text 1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お金の流れ（収入を100とした架空の例）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この流れが、そのままPLです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537460"/>
            <a:ext cx="3289706" cy="3017520"/>
          </a:xfrm>
          <a:prstGeom prst="roundRect">
            <a:avLst>
              <a:gd name="adj" fmla="val 3030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2683764"/>
            <a:ext cx="299709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収入</a:t>
            </a:r>
            <a:endParaRPr lang="en-US" sz="19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66946" y="25374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07026" y="2537460"/>
            <a:ext cx="3289706" cy="872338"/>
          </a:xfrm>
          <a:prstGeom prst="roundRect">
            <a:avLst>
              <a:gd name="adj" fmla="val 1048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53330" y="2683764"/>
            <a:ext cx="2997098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税・社会保険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30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707026" y="3519526"/>
            <a:ext cx="3289706" cy="2035454"/>
          </a:xfrm>
          <a:prstGeom prst="roundRect">
            <a:avLst>
              <a:gd name="adj" fmla="val 449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53330" y="3665830"/>
            <a:ext cx="2997098" cy="174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手取り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70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24749" y="3519526"/>
            <a:ext cx="3289706" cy="1375519"/>
          </a:xfrm>
          <a:prstGeom prst="roundRect">
            <a:avLst>
              <a:gd name="adj" fmla="val 6648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1053" y="3665830"/>
            <a:ext cx="2997098" cy="108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生活費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50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24749" y="5004772"/>
            <a:ext cx="3289706" cy="550208"/>
          </a:xfrm>
          <a:prstGeom prst="roundRect">
            <a:avLst>
              <a:gd name="adj" fmla="val 16619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1053" y="5050492"/>
            <a:ext cx="2997098" cy="4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自由なお金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20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個人から、法人へ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法人も、まったく同じです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090008" cy="3017520"/>
          </a:xfrm>
          <a:prstGeom prst="roundRect">
            <a:avLst>
              <a:gd name="adj" fmla="val 3030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24448" y="2286000"/>
            <a:ext cx="5090008" cy="3017520"/>
          </a:xfrm>
          <a:prstGeom prst="roundRect">
            <a:avLst>
              <a:gd name="adj" fmla="val 3030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6700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個人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318211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今日、あなたが作ったもの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4175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持ち物 − 借金 ＝ 正味の財産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収入 − 税・生活費 ＝ 自由なお金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81648" y="26700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法人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81648" y="318211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会社の決算書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1648" y="3703320"/>
            <a:ext cx="4175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資産 − 負債 ＝ 純資産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売上 − 費用 ＝ 利益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違うのは、“ゼロの数”だけ。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明日の予告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今日は、まだ入口です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「できそう」の先へ。ここからの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2日間で、“相談役”までの道筋を通します。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82331F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黒字なのに、お金がない？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Day 2：決算書を使って、その“謎”をあなた自身が解きます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A6432E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“相談役”への道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Day 3：会計を武器に社長と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話す、具体的なルートを描きます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今夜の宿題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宿題は、紙1枚だけ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40487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5234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自分のBSを書く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209544"/>
            <a:ext cx="2753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持ち物・借金・正味の財産の3行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44898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9218" y="240487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9218" y="275234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スマホで撮る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19218" y="3209544"/>
            <a:ext cx="2753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きれいに清書しなくて大丈夫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12557" y="2240280"/>
            <a:ext cx="3301898" cy="2331720"/>
          </a:xfrm>
          <a:prstGeom prst="roundRect">
            <a:avLst>
              <a:gd name="adj" fmla="val 3922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86877" y="240487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6877" y="2752344"/>
            <a:ext cx="27532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FBグループへ投稿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86877" y="3209544"/>
            <a:ext cx="2753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仲間の1枚からも学べます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投稿された方に、Day 1特典をお渡しします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852160" cy="585216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77240" y="141274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Day 1 おわりに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05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会計は、特別な人のものじゃない。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“相談役”の席は、空いています。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3886200"/>
            <a:ext cx="7955280" cy="1691640"/>
          </a:xfrm>
          <a:prstGeom prst="roundRect">
            <a:avLst>
              <a:gd name="adj" fmla="val 5405"/>
            </a:avLst>
          </a:prstGeom>
          <a:solidFill>
            <a:srgbClr val="A6432E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41970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今夜：自分のBSを1枚、FBグループへ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4440" y="47548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F4E8E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紙1枚・3行でOK。投稿された方にDay 1特典を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F4E8E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お渡しします。売り込みは一切しません。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2｜明日 同時刻｜「黒字なのにお金が残らない」の謎を解く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Day1｜保険営業から、社長の“相談役”へ</dc:title>
  <dc:subject>PptxGenJS Presentation</dc:subject>
  <dc:creator>pptx-creation-plugin</dc:creator>
  <cp:lastModifiedBy>pptx-creation-plugin</cp:lastModifiedBy>
  <cp:revision>1</cp:revision>
  <dcterms:created xsi:type="dcterms:W3CDTF">2026-07-08T11:44:52Z</dcterms:created>
  <dcterms:modified xsi:type="dcterms:W3CDTF">2026-07-08T11:44:52Z</dcterms:modified>
</cp:coreProperties>
</file>