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営業利益（万円）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;▲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5"/>
                    </a:solidFill>
                    <a:latin typeface="Yu Gothic Medium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</c:v>
                  </c:pt>
                  <c:pt idx="1">
                    <c:v>5月</c:v>
                  </c:pt>
                  <c:pt idx="2">
                    <c:v>6月</c:v>
                  </c:pt>
                  <c:pt idx="3">
                    <c:v>7月</c:v>
                  </c:pt>
                  <c:pt idx="4">
                    <c:v>8月</c:v>
                  </c:pt>
                  <c:pt idx="5">
                    <c:v>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280</c:v>
                </c:pt>
                <c:pt idx="2">
                  <c:v>180</c:v>
                </c:pt>
                <c:pt idx="3">
                  <c:v>240</c:v>
                </c:pt>
                <c:pt idx="4">
                  <c:v>360</c:v>
                </c:pt>
                <c:pt idx="5">
                  <c:v>430</c:v>
                </c:pt>
              </c:numCache>
            </c:numRef>
          </c:val>
        </c:ser>
        <c:dLbls>
          <c:numFmt formatCode="#,##0;▲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5"/>
                  </a:solidFill>
                  <a:latin typeface="Yu Gothic Medium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73"/>
                </a:solidFill>
                <a:latin typeface="Yu Gothic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つかみ。きょうのゴールは『数字で経営判断ができる状態』。押し売りはしない旨も最初に伝える。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1スライド1メッセージの見本。数字は概念例。決算を待つと打ち手が遅れる、を体感させる。
【分解】項目=1（結論文＋概念数字） ／ 関係1語=単一の主張 ／ 量=概念例と明示 ／ 主役=「半年遅い」 ／ 既知→未知=決算書は年1回（既知）→それでは遅い（未知）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左で全体像、右で3視点を提示。テキストとビジュアル(番号サークル)の二段構え。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対比カード。右(管理会計)を強調色で。縦帯は使わず、塗りと影だけで差をつける。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グラフはネイティブ(編集可)。6月の谷→8月V字。決算を待たない、を数字で示す。
【分解】項目=月次6点 ／ 関係1語=推移（6月の谷→8月回復） ／ 量=実数イメージ・比例が論点 ／ 主役=谷からの回復 ／ 既知→未知=年1回の決算（既知）→月次の視界（未知）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締めはダークでcoverと呼応(sandwich)。行動は1つに絞る:無料個別相談。連絡先を明示。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383280"/>
            <a:ext cx="6583680" cy="658368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46761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FA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経営者向けセミナー（60分）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91440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数字で経営を変える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管理会計 入門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AAB8C7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「どんぶり経営」から、根拠ある意思決定へ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8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　｜　2026年7月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本セミナーのゴール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決算書が出てから動くのでは、</a:t>
            </a:r>
            <a:endParaRPr lang="en-US" sz="32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2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半年遅い。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約60%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377440" y="4800600"/>
            <a:ext cx="7436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自社の利益構造を「数字で説明できる」経営者は、決して多くありません（イメージ）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管理会計でわかること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管理会計が照らす、3つの視点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財務会計が「過去の成績表」だとすれば、管理会計は「これからの打ち手」を考えるための道具です。日々の数字を分解して見ることで、利益の源泉と改善の余地が見えてきます。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97880" y="228600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01384" y="2240280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利益構造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1384" y="2688336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どの商品・顧客が利益を生んでいるかを把握する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97880" y="3621024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897880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1384" y="3575304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資金繰り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1384" y="4023360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将来の資金の動きを先読みし、不足を未然に防ぐ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897880" y="495604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01384" y="4910328"/>
            <a:ext cx="5004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投資判断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01384" y="5358384"/>
            <a:ext cx="5004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設備・人への投資の優先順位を、数字で決める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ちがいを整理する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財務会計と管理会計のちがい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81448" cy="3611880"/>
          </a:xfrm>
          <a:prstGeom prst="roundRect">
            <a:avLst>
              <a:gd name="adj" fmla="val 253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4448" y="2286000"/>
            <a:ext cx="5181448" cy="3611880"/>
          </a:xfrm>
          <a:prstGeom prst="roundRect">
            <a:avLst>
              <a:gd name="adj" fmla="val 2532"/>
            </a:avLst>
          </a:prstGeom>
          <a:solidFill>
            <a:srgbClr val="E9F3F3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6700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財務会計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3000" y="3182112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外部に報告するための会計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3703320"/>
            <a:ext cx="426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対象は税務署・銀行・株主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過去の確定した数字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会計基準（ルール）に従う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年次・決算が中心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1648" y="26700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5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管理会計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81648" y="3182112"/>
            <a:ext cx="4267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66373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経営判断のための会計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81648" y="3703320"/>
            <a:ext cx="426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対象は社内（経営者・現場）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未来を見据えた数字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自社が見たい形に設計できる</a:t>
            </a:r>
            <a:endParaRPr lang="en-US" sz="1500" dirty="0"/>
          </a:p>
          <a:p>
            <a:pPr algn="l" marL="177800" indent="-177800">
              <a:lnSpc>
                <a:spcPct val="140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月次・タイムリーが命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60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23544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E7C8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月次で見る効果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20" kern="0" dirty="0">
                <a:solidFill>
                  <a:srgbClr val="1B27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月次で見ると、打ち手が早くなる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0116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94560"/>
            <a:ext cx="3687775" cy="3520440"/>
          </a:xfrm>
          <a:prstGeom prst="roundRect">
            <a:avLst>
              <a:gd name="adj" fmla="val 2597"/>
            </a:avLst>
          </a:prstGeom>
          <a:solidFill>
            <a:srgbClr val="E9F3F3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02168" y="2560320"/>
            <a:ext cx="29196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0A5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早期把握 → 早期対応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02168" y="3456432"/>
            <a:ext cx="2919679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B2735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6月の落ち込みをその月のうちに察知できれば、7〜8月の打ち手でV字回復につなげられます。決算を待つ必要はありません。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大吉会計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914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8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852160" cy="5852160"/>
          </a:xfrm>
          <a:prstGeom prst="ellipse">
            <a:avLst/>
          </a:prstGeom>
          <a:solidFill>
            <a:srgbClr val="26384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421892"/>
            <a:ext cx="118872" cy="1188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923544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5FA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あなたの会社の数字を、</a:t>
            </a:r>
            <a:endParaRPr lang="en-US" sz="3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200" b="1" spc="-2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一緒に見てみませんか？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3886200"/>
            <a:ext cx="7955280" cy="1691640"/>
          </a:xfrm>
          <a:prstGeom prst="roundRect">
            <a:avLst>
              <a:gd name="adj" fmla="val 5405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27000" dist="50800" dir="5400000">
              <a:srgbClr val="1B273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41970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個別相談（無料・30分）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47548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AF7F7"/>
                </a:solidFill>
                <a:latin typeface="Yu Gothic Medium" pitchFamily="34" charset="0"/>
                <a:ea typeface="Yu Gothic Medium" pitchFamily="34" charset="-122"/>
                <a:cs typeface="Yu Gothic Medium" pitchFamily="34" charset="-120"/>
              </a:rPr>
              <a:t>自社の月次資料をお持ちいただければ、その場で改善のヒントをお伝えします。無理な勧誘はいたしません。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AB8C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お申し込み：受付フォームより ／ お問い合わせ：info@example.co.jp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管理会計 入門（サンプル）</dc:title>
  <dc:subject>PptxGenJS Presentation</dc:subject>
  <dc:creator>大吉会計</dc:creator>
  <cp:lastModifiedBy>大吉会計</cp:lastModifiedBy>
  <cp:revision>1</cp:revision>
  <dcterms:created xsi:type="dcterms:W3CDTF">2026-07-09T10:24:50Z</dcterms:created>
  <dcterms:modified xsi:type="dcterms:W3CDTF">2026-07-09T10:24:50Z</dcterms:modified>
</cp:coreProperties>
</file>