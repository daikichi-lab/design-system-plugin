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営業利益（万円）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#,##0;▲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5"/>
                    </a:solidFill>
                    <a:latin typeface="Yu Gothic Medium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9月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280</c:v>
                </c:pt>
                <c:pt idx="2">
                  <c:v>180</c:v>
                </c:pt>
                <c:pt idx="3">
                  <c:v>240</c:v>
                </c:pt>
                <c:pt idx="4">
                  <c:v>360</c:v>
                </c:pt>
                <c:pt idx="5">
                  <c:v>430</c:v>
                </c:pt>
              </c:numCache>
            </c:numRef>
          </c:val>
        </c:ser>
        <c:dLbls>
          <c:numFmt formatCode="#,##0;▲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735"/>
                  </a:solidFill>
                  <a:latin typeface="Yu Gothic Medium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373"/>
                </a:solidFill>
                <a:latin typeface="Yu Gothic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つかみ。きょうのゴールは『数字で経営判断ができる状態』。押し売りはしない旨も最初に伝える。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1スライド1メッセージの見本。数字は概念例。決算を待つと打ち手が遅れる、を体感させる。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左で全体像、右で3視点を提示。テキストとビジュアル(番号サークル)の二段構え。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対比カード。右(管理会計)を強調色で。縦帯は使わず、塗りと影だけで差をつける。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グラフはネイティブ(編集可)。6月の谷→8月V字。決算を待たない、を数字で示す。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締めはダークでcoverと呼応(sandwich)。行動は1つに絞る:無料個別相談。連絡先を明示。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383280"/>
            <a:ext cx="6583680" cy="6583680"/>
          </a:xfrm>
          <a:prstGeom prst="ellipse">
            <a:avLst/>
          </a:prstGeom>
          <a:solidFill>
            <a:srgbClr val="26384C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46761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923544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5FA8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経営者向けセミナー（60分）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2011680"/>
            <a:ext cx="91440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400" b="1" spc="-2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数字で経営を変える</a:t>
            </a:r>
            <a:endParaRPr lang="en-US" sz="44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4400" b="1" spc="-2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管理会計 入門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85800" y="42976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AAB8C7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「どんぶり経営」から、根拠ある意思決定へ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6080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AAB8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大吉会計　｜　2026年7月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3609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923544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本セミナーのゴール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3628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3200" b="1" spc="-20" kern="0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決算書が出てから動くのでは、</a:t>
            </a:r>
            <a:endParaRPr lang="en-US" sz="32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3200" b="1" spc="-20" kern="0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半年遅い。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14400" y="3611880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約60%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2377440" y="4800600"/>
            <a:ext cx="74368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5663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自社の利益構造を「数字で説明できる」経営者は、決して多くありません（イメージ）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大吉会計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914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3609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923544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管理会計でわかること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spc="-20" kern="0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管理会計が照らす、3つの視点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500" dirty="0">
                <a:solidFill>
                  <a:srgbClr val="566373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財務会計が「過去の成績表」だとすれば、管理会計は「これからの打ち手」を考えるための道具です。日々の数字を分解して見ることで、利益の源泉と改善の余地が見えてきます。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897880" y="2286000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89788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01384" y="2240280"/>
            <a:ext cx="50045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利益構造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01384" y="2688336"/>
            <a:ext cx="500451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566373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どの商品・顧客が利益を生んでいるかを把握する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897880" y="3621024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/>
          <p:nvPr/>
        </p:nvSpPr>
        <p:spPr>
          <a:xfrm>
            <a:off x="5897880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01384" y="3575304"/>
            <a:ext cx="50045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資金繰り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01384" y="4023360"/>
            <a:ext cx="500451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566373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将来の資金の動きを先読みし、不足を未然に防ぐ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897880" y="4956048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/>
          <p:nvPr/>
        </p:nvSpPr>
        <p:spPr>
          <a:xfrm>
            <a:off x="5897880" y="4956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01384" y="4910328"/>
            <a:ext cx="50045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投資判断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501384" y="5358384"/>
            <a:ext cx="500451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566373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設備・人への投資の優先順位を、数字で決める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858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大吉会計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5914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3609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923544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ちがいを整理する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spc="-20" kern="0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財務会計と管理会計のちがい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2286000"/>
            <a:ext cx="5181448" cy="3611880"/>
          </a:xfrm>
          <a:prstGeom prst="roundRect">
            <a:avLst>
              <a:gd name="adj" fmla="val 2532"/>
            </a:avLst>
          </a:prstGeom>
          <a:solidFill>
            <a:srgbClr val="F3F5F7"/>
          </a:solidFill>
          <a:ln/>
          <a:effectLst>
            <a:outerShdw sx="100000" sy="100000" kx="0" ky="0" algn="bl" rotWithShape="0" blurRad="127000" dist="50800" dir="5400000">
              <a:srgbClr val="1B2735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324448" y="2286000"/>
            <a:ext cx="5181448" cy="3611880"/>
          </a:xfrm>
          <a:prstGeom prst="roundRect">
            <a:avLst>
              <a:gd name="adj" fmla="val 2532"/>
            </a:avLst>
          </a:prstGeom>
          <a:solidFill>
            <a:srgbClr val="E9F3F3"/>
          </a:solidFill>
          <a:ln/>
          <a:effectLst>
            <a:outerShdw sx="100000" sy="100000" kx="0" ky="0" algn="bl" rotWithShape="0" blurRad="127000" dist="50800" dir="5400000">
              <a:srgbClr val="1B2735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2670048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財務会計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143000" y="3182112"/>
            <a:ext cx="4267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66373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外部に報告するための会計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143000" y="3703320"/>
            <a:ext cx="426704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4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対象は税務署・銀行・株主</a:t>
            </a:r>
            <a:endParaRPr lang="en-US" sz="1500" dirty="0"/>
          </a:p>
          <a:p>
            <a:pPr algn="l" marL="177800" indent="-177800">
              <a:lnSpc>
                <a:spcPct val="14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過去の確定した数字</a:t>
            </a:r>
            <a:endParaRPr lang="en-US" sz="1500" dirty="0"/>
          </a:p>
          <a:p>
            <a:pPr algn="l" marL="177800" indent="-177800">
              <a:lnSpc>
                <a:spcPct val="14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会計基準（ルール）に従う</a:t>
            </a:r>
            <a:endParaRPr lang="en-US" sz="1500" dirty="0"/>
          </a:p>
          <a:p>
            <a:pPr algn="l" marL="177800" indent="-177800">
              <a:lnSpc>
                <a:spcPct val="14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年次・決算が中心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781648" y="2670048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A5E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管理会計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781648" y="3182112"/>
            <a:ext cx="4267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66373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経営判断のための会計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81648" y="3703320"/>
            <a:ext cx="426704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4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対象は社内（経営者・現場）</a:t>
            </a:r>
            <a:endParaRPr lang="en-US" sz="1500" dirty="0"/>
          </a:p>
          <a:p>
            <a:pPr algn="l" marL="177800" indent="-177800">
              <a:lnSpc>
                <a:spcPct val="14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未来を見据えた数字</a:t>
            </a:r>
            <a:endParaRPr lang="en-US" sz="1500" dirty="0"/>
          </a:p>
          <a:p>
            <a:pPr algn="l" marL="177800" indent="-177800">
              <a:lnSpc>
                <a:spcPct val="14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自社が見たい形に設計できる</a:t>
            </a:r>
            <a:endParaRPr lang="en-US" sz="1500" dirty="0"/>
          </a:p>
          <a:p>
            <a:pPr algn="l" marL="177800" indent="-177800">
              <a:lnSpc>
                <a:spcPct val="14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月次・タイムリーが命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大吉会計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5914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3609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923544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月次で見る効果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spc="-20" kern="0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月次で見ると、打ち手が早くなる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85800" y="201168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18120" y="2194560"/>
            <a:ext cx="3687775" cy="3520440"/>
          </a:xfrm>
          <a:prstGeom prst="roundRect">
            <a:avLst>
              <a:gd name="adj" fmla="val 2597"/>
            </a:avLst>
          </a:prstGeom>
          <a:solidFill>
            <a:srgbClr val="E9F3F3"/>
          </a:solidFill>
          <a:ln/>
          <a:effectLst>
            <a:outerShdw sx="100000" sy="100000" kx="0" ky="0" algn="bl" rotWithShape="0" blurRad="127000" dist="50800" dir="5400000">
              <a:srgbClr val="1B2735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02168" y="2560320"/>
            <a:ext cx="291967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0A5E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早期把握 → 早期対応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202168" y="3456432"/>
            <a:ext cx="291967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500" dirty="0">
                <a:solidFill>
                  <a:srgbClr val="1B2735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6月の落ち込みをその月のうちに察知できれば、7〜8月の打ち手でV字回復につなげられます。決算を待つ必要はありません。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大吉会計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5914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-2377440"/>
            <a:ext cx="5852160" cy="5852160"/>
          </a:xfrm>
          <a:prstGeom prst="ellipse">
            <a:avLst/>
          </a:prstGeom>
          <a:solidFill>
            <a:srgbClr val="26384C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42189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923544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5FA8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次の一歩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965960"/>
            <a:ext cx="100584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spc="-2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あなたの会社の数字を、</a:t>
            </a:r>
            <a:endParaRPr lang="en-US" sz="3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3200" b="1" spc="-2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一緒に見てみませんか？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3886200"/>
            <a:ext cx="7955280" cy="1691640"/>
          </a:xfrm>
          <a:prstGeom prst="roundRect">
            <a:avLst>
              <a:gd name="adj" fmla="val 5405"/>
            </a:avLst>
          </a:prstGeom>
          <a:solidFill>
            <a:srgbClr val="0E7C86"/>
          </a:solidFill>
          <a:ln/>
          <a:effectLst>
            <a:outerShdw sx="100000" sy="100000" kx="0" ky="0" algn="bl" rotWithShape="0" blurRad="127000" dist="50800" dir="5400000">
              <a:srgbClr val="1B2735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4197096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個別相談（無料・30分）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143000" y="475488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EAF7F7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自社の月次資料をお持ちいただければ、その場で改善のヒントをお伝えします。無理な勧誘はいたしません。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AAB8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お申し込み：受付フォームより ／ お問い合わせ：info@example.co.jp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管理会計 入門（サンプル）</dc:title>
  <dc:subject>PptxGenJS Presentation</dc:subject>
  <dc:creator>大吉会計</dc:creator>
  <cp:lastModifiedBy>大吉会計</cp:lastModifiedBy>
  <cp:revision>1</cp:revision>
  <dcterms:created xsi:type="dcterms:W3CDTF">2026-07-06T10:21:52Z</dcterms:created>
  <dcterms:modified xsi:type="dcterms:W3CDTF">2026-07-06T10:21:52Z</dcterms:modified>
</cp:coreProperties>
</file>