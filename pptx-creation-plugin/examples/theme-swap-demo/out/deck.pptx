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営業利益（万円）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433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9月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280</c:v>
                </c:pt>
                <c:pt idx="2">
                  <c:v>180</c:v>
                </c:pt>
                <c:pt idx="3">
                  <c:v>240</c:v>
                </c:pt>
                <c:pt idx="4">
                  <c:v>360</c:v>
                </c:pt>
                <c:pt idx="5">
                  <c:v>430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433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577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つかみ。きょうのゴールは『数字で経営判断ができる状態』。押し売りはしない旨も最初に伝える。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1スライド1メッセージの見本。数字は概念例。決算を待つと打ち手が遅れる、を体感させる。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左で全体像、右で3視点を提示。テキストとビジュアル(番号サークル)の二段構え。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対比カード。右(管理会計)を強調色で。縦帯は使わず、塗りと影だけで差をつける。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グラフはネイティブ(編集可)。6月の谷→8月V字。決算を待たない、を数字で示す。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締めはダークでcoverと呼応(sandwich)。行動は1つに絞る:無料個別相談。連絡先を明示。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383280"/>
            <a:ext cx="6583680" cy="6583680"/>
          </a:xfrm>
          <a:prstGeom prst="ellipse">
            <a:avLst/>
          </a:prstGeom>
          <a:solidFill>
            <a:srgbClr val="22304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467612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D98E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経営者向けセミナー（60分）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数字で経営を変える</a:t>
            </a:r>
            <a:endParaRPr lang="en-US" sz="4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管理会計 入門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A9B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「どんぶり経営」から、根拠ある意思決定へ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大吉会計　｜　2026年7月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90372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本セミナーのゴール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3200" b="1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決算書が出てから動くのでは、</a:t>
            </a:r>
            <a:endParaRPr lang="en-US" sz="32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3200" b="1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半年遅い。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約60%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2377440" y="4754880"/>
            <a:ext cx="7436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自社の利益構造を「数字で説明できる」経営者は、決して多くありません（イメージ）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5A0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大吉会計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5A0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90372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管理会計でわかること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管理会計が照らす、3つの視点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5A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財務会計が「過去の成績表」だとすれば、管理会計は「これからの打ち手」を考えるための道具です。日々の数字を分解して見ることで、利益の源泉と改善の余地が見えてきます。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97880" y="2240280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589788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01384" y="2194560"/>
            <a:ext cx="5050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利益構造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01384" y="2624328"/>
            <a:ext cx="50502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どの商品・顧客が利益を生んでいるかを把握する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97880" y="3538728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589788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01384" y="3493008"/>
            <a:ext cx="5050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資金繰り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01384" y="3922776"/>
            <a:ext cx="50502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将来の資金の動きを先読みし、不足を未然に防ぐ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97880" y="4837176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4837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01384" y="4791456"/>
            <a:ext cx="5050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投資判断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01384" y="5221224"/>
            <a:ext cx="50502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設備・人への投資の優先順位を、数字で決める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5A0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大吉会計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5A0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90372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ちがいを整理する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財務会計と管理会計のちがい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27168" cy="3703320"/>
          </a:xfrm>
          <a:prstGeom prst="roundRect">
            <a:avLst>
              <a:gd name="adj" fmla="val 222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27000" dist="50800" dir="5400000">
              <a:srgbClr val="1C24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24448" y="2240280"/>
            <a:ext cx="5227168" cy="3703320"/>
          </a:xfrm>
          <a:prstGeom prst="roundRect">
            <a:avLst>
              <a:gd name="adj" fmla="val 2222"/>
            </a:avLst>
          </a:prstGeom>
          <a:solidFill>
            <a:srgbClr val="FBEEE2"/>
          </a:solidFill>
          <a:ln/>
          <a:effectLst>
            <a:outerShdw sx="100000" sy="100000" kx="0" ky="0" algn="bl" rotWithShape="0" blurRad="127000" dist="50800" dir="5400000">
              <a:srgbClr val="1C24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60604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財務会計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3108960"/>
            <a:ext cx="440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外部に報告するための会計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3611880"/>
            <a:ext cx="44042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対象は税務署・銀行・株主</a:t>
            </a:r>
            <a:endParaRPr lang="en-US" sz="15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過去の確定した数字</a:t>
            </a:r>
            <a:endParaRPr lang="en-US" sz="15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会計基準（ルール）に従う</a:t>
            </a:r>
            <a:endParaRPr lang="en-US" sz="15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年次・決算が中心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35928" y="260604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管理会計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735928" y="3108960"/>
            <a:ext cx="440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経営判断のための会計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35928" y="3611880"/>
            <a:ext cx="44042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対象は社内（経営者・現場）</a:t>
            </a:r>
            <a:endParaRPr lang="en-US" sz="15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未来を見据えた数字</a:t>
            </a:r>
            <a:endParaRPr lang="en-US" sz="15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自社が見たい形に設計できる</a:t>
            </a:r>
            <a:endParaRPr lang="en-US" sz="15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月次・タイムリーが命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5A0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大吉会計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5A0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90372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B4530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月次で見る効果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月次で見ると、打ち手が早くなる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148840"/>
            <a:ext cx="3733495" cy="3566160"/>
          </a:xfrm>
          <a:prstGeom prst="roundRect">
            <a:avLst>
              <a:gd name="adj" fmla="val 2308"/>
            </a:avLst>
          </a:prstGeom>
          <a:solidFill>
            <a:srgbClr val="FBEEE2"/>
          </a:solidFill>
          <a:ln/>
          <a:effectLst>
            <a:outerShdw sx="100000" sy="100000" kx="0" ky="0" algn="bl" rotWithShape="0" blurRad="127000" dist="50800" dir="5400000">
              <a:srgbClr val="1C2433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83880" y="2514600"/>
            <a:ext cx="3001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7C2D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早期把握 → 早期対応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183880" y="3429000"/>
            <a:ext cx="30019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C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6月の落ち込みをその月のうちに察知できれば、7〜8月の打ち手でV字回復につなげられます。決算を待つ必要はありません。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5A0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大吉会計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5A0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852160" cy="5852160"/>
          </a:xfrm>
          <a:prstGeom prst="ellipse">
            <a:avLst/>
          </a:prstGeom>
          <a:solidFill>
            <a:srgbClr val="22304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421892"/>
            <a:ext cx="118872" cy="1188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877824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D98E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次の一歩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あなたの会社の数字を、</a:t>
            </a:r>
            <a:endParaRPr lang="en-US" sz="3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一緒に見てみませんか？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3886200"/>
            <a:ext cx="7955280" cy="1691640"/>
          </a:xfrm>
          <a:prstGeom prst="roundRect">
            <a:avLst>
              <a:gd name="adj" fmla="val 5405"/>
            </a:avLst>
          </a:prstGeom>
          <a:solidFill>
            <a:srgbClr val="B45309"/>
          </a:solidFill>
          <a:ln/>
          <a:effectLst>
            <a:outerShdw sx="100000" sy="100000" kx="0" ky="0" algn="bl" rotWithShape="0" blurRad="127000" dist="50800" dir="5400000">
              <a:srgbClr val="1C24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417880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個別相談（無料・30分）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97280" y="472744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CEB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自社の月次資料をお持ちいただければ、その場で改善のヒントをお伝えします。無理な勧誘はいたしません。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1447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4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お申し込み：受付フォームより ／ お問い合わせ：info@example.co.jp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管理会計 入門（サンプル）</dc:title>
  <dc:subject>PptxGenJS Presentation</dc:subject>
  <dc:creator>大吉会計</dc:creator>
  <cp:lastModifiedBy>大吉会計</cp:lastModifiedBy>
  <cp:revision>1</cp:revision>
  <dcterms:created xsi:type="dcterms:W3CDTF">2026-06-30T16:28:17Z</dcterms:created>
  <dcterms:modified xsi:type="dcterms:W3CDTF">2026-06-30T16:28:17Z</dcterms:modified>
</cp:coreProperties>
</file>