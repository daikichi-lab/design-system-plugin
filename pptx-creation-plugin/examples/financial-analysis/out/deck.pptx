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売上高（億円）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.0;▲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5"/>
                    </a:solidFill>
                    <a:latin typeface="Yu Gothic Medium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前Q3</c:v>
                  </c:pt>
                  <c:pt idx="1">
                    <c:v>前Q4</c:v>
                  </c:pt>
                  <c:pt idx="2">
                    <c:v>当Q1</c:v>
                  </c:pt>
                  <c:pt idx="3">
                    <c:v>当Q2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21.8</c:v>
                </c:pt>
                <c:pt idx="1">
                  <c:v>22.6</c:v>
                </c:pt>
                <c:pt idx="2">
                  <c:v>23.1</c:v>
                </c:pt>
                <c:pt idx="3">
                  <c:v>25.1</c:v>
                </c:pt>
              </c:numCache>
            </c:numRef>
          </c:val>
        </c:ser>
        <c:dLbls>
          <c:numFmt formatCode="#,##0.0;▲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5"/>
                  </a:solidFill>
                  <a:latin typeface="Yu Gothic Medium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73"/>
                </a:solidFill>
                <a:latin typeface="Yu Gothic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社内向けの業績レビュー。結論を先に、根拠を後に。数値は社内管理・速報ベースである旨を最初に共有する。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1スライド1メッセージ。良いニュース（増収増益）と論点（原価）を一文で。
【分解】項目=1（結論文） ／ 関係1語=単一の主張 ／ 量=前年比は口頭 ／ 主役=2行目の論点 ／ 既知→未知=良い結果（既知の期待）→原価の論点（未知）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章扉。ダークで区切る。watermarkの章番号がモチーフ。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KPIサマリー。利益率を強調カードに。各カードに前年比を併記して文脈を出す。
【分解】項目=4（売上・営業利益・利益率・受注残） ／ 関係1語=並列（KPIの列挙、順序なし） ／ 量=各値+前年比 ／ 主役=利益率カード（emphasis） ／ 既知→未知=実績（既知）→利益率の改善（伝えたい未知）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ネイティブ縦棒。単位は系列名に明記。前年同四半期比は口頭/テキストで補足。
【分解】項目=6四半期 ／ 関係1語=推移（時系列） ／ 量=四半期売上の実数・比例が論点 ／ 主役=直近四半期の加速 ／ 既知→未知=過去の実績→直近の変化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ネイティブ表（編集可）。数値列は自動で右寄せ。前提・単位はnoteで明示し誤読を防ぐ。
【分解】項目=セグメント×指標の行列 ／ 関係1語=精密な対応（行×列） ／ 量=実数（単位・前提はnote） ／ 主役=産業機械の行（結論行を先頭に＝系列位置） ／ 既知→未知=全社計（既知）→源泉の分解（未知）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対比カード。右（要注意＝打ち手の対象）を強調色で。塗りと影だけ、縦帯は使わない。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第2章。論点（原価）に対する打ち手へ。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左で全体像（論点）、右で3つの打ち手。打ち手は具体的なアクションで書く。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締めはダークでcoverと呼応（sandwich）。意思決定事項を3点に絞って明示する。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6761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取締役会資料（社内）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91440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FY2026 上期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経営レビュー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AAB8C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業績の振り返りと、下期の打ち手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8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サンプル製造株式会社　｜　経営企画部　｜　2026年7月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上期サマリー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上期は増収増益。下期は、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原価上昇への対応が利益を左右する。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+9.3%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売上高 前年同期比（上期）。営業利益率は 8.4%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（前年同期 7.0%）。※社内管理数値・速報ベース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097280"/>
            <a:ext cx="38249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63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85800" y="274777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業績レビュー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上期業績ハイライト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AB8C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売上・利益・財務体質を順に確認します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上期実績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上期は増収・増益で着地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430704" cy="3154680"/>
          </a:xfrm>
          <a:prstGeom prst="roundRect">
            <a:avLst>
              <a:gd name="adj" fmla="val 376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926080"/>
            <a:ext cx="169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48.2億円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169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169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前年同期 44.1億円（+9.3%）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82264" y="2468880"/>
            <a:ext cx="2430704" cy="3154680"/>
          </a:xfrm>
          <a:prstGeom prst="roundRect">
            <a:avLst>
              <a:gd name="adj" fmla="val 376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8024" y="2926080"/>
            <a:ext cx="169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4.05億円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8024" y="4114800"/>
            <a:ext cx="169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848024" y="4590288"/>
            <a:ext cx="169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前年同期 3.60億円（+12.5%）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8728" y="2468880"/>
            <a:ext cx="2430704" cy="3154680"/>
          </a:xfrm>
          <a:prstGeom prst="roundRect">
            <a:avLst>
              <a:gd name="adj" fmla="val 3762"/>
            </a:avLst>
          </a:prstGeom>
          <a:solidFill>
            <a:srgbClr val="E9F3F3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4488" y="2926080"/>
            <a:ext cx="169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A5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44488" y="4114800"/>
            <a:ext cx="169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営業利益率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44488" y="4590288"/>
            <a:ext cx="169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前年同期 7.0%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75191" y="2468880"/>
            <a:ext cx="2430704" cy="3154680"/>
          </a:xfrm>
          <a:prstGeom prst="roundRect">
            <a:avLst>
              <a:gd name="adj" fmla="val 376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40951" y="2926080"/>
            <a:ext cx="169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40951" y="4114800"/>
            <a:ext cx="169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自己資本比率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440951" y="4590288"/>
            <a:ext cx="169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前期末 49%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四半期推移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直近2四半期で、増収が加速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94560"/>
            <a:ext cx="3687775" cy="3520440"/>
          </a:xfrm>
          <a:prstGeom prst="roundRect">
            <a:avLst>
              <a:gd name="adj" fmla="val 2597"/>
            </a:avLst>
          </a:prstGeom>
          <a:solidFill>
            <a:srgbClr val="E9F3F3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02168" y="2560320"/>
            <a:ext cx="29196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0A5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受注増 → 増収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02168" y="3456432"/>
            <a:ext cx="29196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産業機械の受注が当Q1以降伸び、当Q2は前年同四半期比+11%。下期もこの基調を維持できるかが焦点です。※速報・社内管理ベース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利益の源泉は産業機械セグメント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20095" cy="914400"/>
        </p:xfrm>
        <a:graphic>
          <a:graphicData uri="http://schemas.openxmlformats.org/drawingml/2006/table">
            <a:tbl>
              <a:tblPr/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セグメント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構成比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産業機械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2,560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53%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268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10.5%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電子部品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1,540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32%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96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6.2%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保守・サービス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720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15%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41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5.7%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合計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4,820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100%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405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B2735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8.4%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533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単位：百万円（上期実績、社内管理ベース）。営業利益はセグメント間配賦後。構成比は四捨五入のため合計が100%にならない場合があります。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下期に向けた論点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順調な領域と、要注意の領域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81448" cy="3611880"/>
          </a:xfrm>
          <a:prstGeom prst="roundRect">
            <a:avLst>
              <a:gd name="adj" fmla="val 253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86000"/>
            <a:ext cx="5181448" cy="3611880"/>
          </a:xfrm>
          <a:prstGeom prst="roundRect">
            <a:avLst>
              <a:gd name="adj" fmla="val 2532"/>
            </a:avLst>
          </a:prstGeom>
          <a:solidFill>
            <a:srgbClr val="E9F3F3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6700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順調な領域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182112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上期の伸びを支えた要因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3703320"/>
            <a:ext cx="426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産業機械の受注増（大型案件）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保守・サービス売上の安定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価格改定の浸透が進んだ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1648" y="26700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5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要注意の領域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81648" y="3182112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下期に利益を圧迫しうる要因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1648" y="3703320"/>
            <a:ext cx="426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電子部品の部材原価上昇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為替（円安）の調達コスト影響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人件費・採用費の増加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097280"/>
            <a:ext cx="38249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63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85800" y="274777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下期に向けて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下期の重点課題と打ち手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AB8C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増収を維持しつつ、原価上昇をどう吸収するか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下期の打ち手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利益を守る、3つの打ち手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下期は増収基調を維持できる見込みですが、部材原価と人件費の上昇が利益率を押し下げるリスクがあります。利益を守るための打ち手を3つに絞りました。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価格マネジメント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原価連動の価格改定を継続し、改定の浸透状況を月次でモニタリングする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調達改革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主要部材の複社購買とVA/VEで、調達コストの上昇を一部吸収する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固定費の規律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採用は利益貢献部門に限定し、固定費の伸びを売上の伸びの範囲内に収める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サンプル製造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218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下期計画の承認を</a:t>
            </a:r>
            <a:endParaRPr lang="en-US" sz="3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お願いします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1970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本日ご決定いただきたい事項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754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AF7F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① 下期の価格改定方針　② 調達改革の予算枠　③ 採用計画の見直し。詳細は別紙「下期予算案」をご参照ください。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8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資料作成：経営企画部 ／ 問い合わせ：keiei@example.co.jp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上期 経営レビュー（サンプル）</dc:title>
  <dc:subject>PptxGenJS Presentation</dc:subject>
  <dc:creator>サンプル製造株式会社</dc:creator>
  <cp:lastModifiedBy>サンプル製造株式会社</cp:lastModifiedBy>
  <cp:revision>1</cp:revision>
  <dcterms:created xsi:type="dcterms:W3CDTF">2026-07-09T10:24:50Z</dcterms:created>
  <dcterms:modified xsi:type="dcterms:W3CDTF">2026-07-09T10:24:50Z</dcterms:modified>
</cp:coreProperties>
</file>