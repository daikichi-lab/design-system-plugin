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売上高（億円）</c:v>
                </c:pt>
              </c:strCache>
            </c:strRef>
          </c:tx>
          <c:spPr>
            <a:solidFill>
              <a:srgbClr val="0E7C86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735"/>
                    </a:solidFill>
                    <a:latin typeface="Meiry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前Q3</c:v>
                  </c:pt>
                  <c:pt idx="1">
                    <c:v>前Q4</c:v>
                  </c:pt>
                  <c:pt idx="2">
                    <c:v>当Q1</c:v>
                  </c:pt>
                  <c:pt idx="3">
                    <c:v>当Q2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21.8</c:v>
                </c:pt>
                <c:pt idx="1">
                  <c:v>22.6</c:v>
                </c:pt>
                <c:pt idx="2">
                  <c:v>23.1</c:v>
                </c:pt>
                <c:pt idx="3">
                  <c:v>25.1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b="0" i="0" strike="noStrike" sz="1200" u="none">
                  <a:solidFill>
                    <a:srgbClr val="1B2735"/>
                  </a:solidFill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66373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社内向けの業績レビュー。結論を先に、根拠を後に。数値は社内管理・速報ベースである旨を最初に共有する。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1スライド1メッセージ。良いニュース（増収増益）と論点（原価）を一文で。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章扉。ダークで区切る。watermarkの章番号がモチーフ。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KPIサマリー。利益率を強調カードに。各カードに前年比を併記して文脈を出す。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ネイティブ縦棒。単位は系列名に明記。前年同四半期比は口頭/テキストで補足。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ネイティブ表（編集可）。数値列は自動で右寄せ。前提・単位はnoteで明示し誤読を防ぐ。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対比カード。右（要注意＝打ち手の対象）を強調色で。塗りと影だけ、縦帯は使わない。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第2章。論点（原価）に対する打ち手へ。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左で全体像（論点）、右で3つの打ち手。打ち手は具体的なアクションで書く。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締めはダークでcoverと呼応（sandwich）。意思決定事項を3点に絞って明示する。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3383280"/>
            <a:ext cx="6583680" cy="6583680"/>
          </a:xfrm>
          <a:prstGeom prst="ellipse">
            <a:avLst/>
          </a:prstGeom>
          <a:solidFill>
            <a:srgbClr val="26384C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1467612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" name="Text 2"/>
          <p:cNvSpPr/>
          <p:nvPr/>
        </p:nvSpPr>
        <p:spPr>
          <a:xfrm>
            <a:off x="877824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100" kern="0" dirty="0">
                <a:solidFill>
                  <a:srgbClr val="5FA8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取締役会資料（社内）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205740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FY2026 上期</a:t>
            </a:r>
            <a:endParaRPr lang="en-US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経営レビュー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416052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AAB8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業績の振り返りと、下期の打ち手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6080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AAB8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サンプル製造株式会社　｜　経営企画部　｜　2026年7月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90372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100" kern="0" dirty="0">
                <a:solidFill>
                  <a:srgbClr val="0E7C8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上期サマリー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14400" y="1783080"/>
            <a:ext cx="1036289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3200" b="1" dirty="0">
                <a:solidFill>
                  <a:srgbClr val="1B27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上期は増収増益。下期は、</a:t>
            </a:r>
            <a:endParaRPr lang="en-US" sz="32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3200" b="1" dirty="0">
                <a:solidFill>
                  <a:srgbClr val="1B27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原価上昇への対応が利益を左右する。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914400" y="3611880"/>
            <a:ext cx="103628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0E7C8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+9.3%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2377440" y="4754880"/>
            <a:ext cx="74368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663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売上高 前年同期比（上期）。営業利益率は8.4%（前年同期7.0%）。※社内管理数値・速報ベース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8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サンプル製造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8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80960" y="1097280"/>
            <a:ext cx="387065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6384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640080" y="2747772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" name="Text 2"/>
          <p:cNvSpPr/>
          <p:nvPr/>
        </p:nvSpPr>
        <p:spPr>
          <a:xfrm>
            <a:off x="877824" y="2697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100" kern="0" dirty="0">
                <a:solidFill>
                  <a:srgbClr val="5FA8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業績レビュー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320040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上期業績ハイライト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AAB8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売上・利益・財務体質を順に確認します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90372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100" kern="0" dirty="0">
                <a:solidFill>
                  <a:srgbClr val="0E7C8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上期実績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1B27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上期は増収・増益で着地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2453564" cy="3154680"/>
          </a:xfrm>
          <a:prstGeom prst="roundRect">
            <a:avLst>
              <a:gd name="adj" fmla="val 3354"/>
            </a:avLst>
          </a:prstGeom>
          <a:solidFill>
            <a:srgbClr val="F3F5F7"/>
          </a:solidFill>
          <a:ln/>
          <a:effectLst>
            <a:outerShdw sx="100000" sy="100000" kx="0" ky="0" algn="bl" rotWithShape="0" blurRad="127000" dist="50800" dir="5400000">
              <a:srgbClr val="1B2735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2926080"/>
            <a:ext cx="17220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E7C8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48.2億円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1005840" y="4114800"/>
            <a:ext cx="17220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27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売上高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05840" y="4590288"/>
            <a:ext cx="17220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663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前年同期 44.1億円（+9.3%）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459404" y="2468880"/>
            <a:ext cx="2453564" cy="3154680"/>
          </a:xfrm>
          <a:prstGeom prst="roundRect">
            <a:avLst>
              <a:gd name="adj" fmla="val 3354"/>
            </a:avLst>
          </a:prstGeom>
          <a:solidFill>
            <a:srgbClr val="F3F5F7"/>
          </a:solidFill>
          <a:ln/>
          <a:effectLst>
            <a:outerShdw sx="100000" sy="100000" kx="0" ky="0" algn="bl" rotWithShape="0" blurRad="127000" dist="50800" dir="5400000">
              <a:srgbClr val="1B2735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825164" y="2926080"/>
            <a:ext cx="17220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E7C8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4.05億円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3825164" y="4114800"/>
            <a:ext cx="17220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27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営業利益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825164" y="4590288"/>
            <a:ext cx="17220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663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前年同期 3.60億円（+12.5%）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78728" y="2468880"/>
            <a:ext cx="2453564" cy="3154680"/>
          </a:xfrm>
          <a:prstGeom prst="roundRect">
            <a:avLst>
              <a:gd name="adj" fmla="val 3354"/>
            </a:avLst>
          </a:prstGeom>
          <a:solidFill>
            <a:srgbClr val="E9F3F3"/>
          </a:solidFill>
          <a:ln/>
          <a:effectLst>
            <a:outerShdw sx="100000" sy="100000" kx="0" ky="0" algn="bl" rotWithShape="0" blurRad="127000" dist="50800" dir="5400000">
              <a:srgbClr val="1B2735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44488" y="2926080"/>
            <a:ext cx="17220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A5E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8.4%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6644488" y="4114800"/>
            <a:ext cx="17220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27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営業利益率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644488" y="4590288"/>
            <a:ext cx="17220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663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前年同期 7.0%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098051" y="2468880"/>
            <a:ext cx="2453564" cy="3154680"/>
          </a:xfrm>
          <a:prstGeom prst="roundRect">
            <a:avLst>
              <a:gd name="adj" fmla="val 3354"/>
            </a:avLst>
          </a:prstGeom>
          <a:solidFill>
            <a:srgbClr val="F3F5F7"/>
          </a:solidFill>
          <a:ln/>
          <a:effectLst>
            <a:outerShdw sx="100000" sy="100000" kx="0" ky="0" algn="bl" rotWithShape="0" blurRad="127000" dist="50800" dir="5400000">
              <a:srgbClr val="1B2735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463811" y="2926080"/>
            <a:ext cx="17220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E7C8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52%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9463811" y="4114800"/>
            <a:ext cx="17220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27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自己資本比率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463811" y="4590288"/>
            <a:ext cx="17220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663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前期末 49%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8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サンプル製造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8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90372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100" kern="0" dirty="0">
                <a:solidFill>
                  <a:srgbClr val="0E7C8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四半期推移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1B27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直近2四半期で、増収が加速</a:t>
            </a:r>
            <a:endParaRPr lang="en-US" sz="28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1965960"/>
          <a:ext cx="68580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818120" y="2148840"/>
            <a:ext cx="3733495" cy="3566160"/>
          </a:xfrm>
          <a:prstGeom prst="roundRect">
            <a:avLst>
              <a:gd name="adj" fmla="val 2308"/>
            </a:avLst>
          </a:prstGeom>
          <a:solidFill>
            <a:srgbClr val="E9F3F3"/>
          </a:solidFill>
          <a:ln/>
          <a:effectLst>
            <a:outerShdw sx="100000" sy="100000" kx="0" ky="0" algn="bl" rotWithShape="0" blurRad="127000" dist="50800" dir="5400000">
              <a:srgbClr val="1B2735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183880" y="2514600"/>
            <a:ext cx="3001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0A5E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受注増 → 増収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8183880" y="3429000"/>
            <a:ext cx="300197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1B27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産業機械の受注が当Q1以降伸び、当Q2は前年同四半期比+11%。下期もこの基調を維持できるかが焦点です。※速報・社内管理ベース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4008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8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サンプル製造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8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90372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100" kern="0" dirty="0">
                <a:solidFill>
                  <a:srgbClr val="0E7C8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セグメント別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1B27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利益の源泉は産業機械セグメント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057400"/>
          <a:ext cx="10911535" cy="914400"/>
        </p:xfrm>
        <a:graphic>
          <a:graphicData uri="http://schemas.openxmlformats.org/drawingml/2006/table">
            <a:tbl>
              <a:tblPr/>
              <a:tblGrid>
                <a:gridCol w="2182307"/>
                <a:gridCol w="2182307"/>
                <a:gridCol w="2182307"/>
                <a:gridCol w="2182307"/>
                <a:gridCol w="2182307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セグメント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売上高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構成比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営業利益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利益率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73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産業機械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B273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2,560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B273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53%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B273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268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B273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10.5%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73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電子部品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B273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1,540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B273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32%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B273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96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B273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6.2%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73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保守・サービス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B273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720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B273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15%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B273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41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B273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5.7%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73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B273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4,820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B273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100%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B273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405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B273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8.4%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605332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8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単位：百万円（上期実績、社内管理ベース）。営業利益はセグメント間配賦後。構成比は四捨五入のため合計が100%にならない場合があります。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4008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8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サンプル製造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8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90372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100" kern="0" dirty="0">
                <a:solidFill>
                  <a:srgbClr val="0E7C8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下期に向けた論点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1B27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順調な領域と、要注意の領域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5227168" cy="3703320"/>
          </a:xfrm>
          <a:prstGeom prst="roundRect">
            <a:avLst>
              <a:gd name="adj" fmla="val 2222"/>
            </a:avLst>
          </a:prstGeom>
          <a:solidFill>
            <a:srgbClr val="F3F5F7"/>
          </a:solidFill>
          <a:ln/>
          <a:effectLst>
            <a:outerShdw sx="100000" sy="100000" kx="0" ky="0" algn="bl" rotWithShape="0" blurRad="127000" dist="50800" dir="5400000">
              <a:srgbClr val="1B2735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324448" y="2240280"/>
            <a:ext cx="5227168" cy="3703320"/>
          </a:xfrm>
          <a:prstGeom prst="roundRect">
            <a:avLst>
              <a:gd name="adj" fmla="val 2222"/>
            </a:avLst>
          </a:prstGeom>
          <a:solidFill>
            <a:srgbClr val="E9F3F3"/>
          </a:solidFill>
          <a:ln/>
          <a:effectLst>
            <a:outerShdw sx="100000" sy="100000" kx="0" ky="0" algn="bl" rotWithShape="0" blurRad="127000" dist="50800" dir="5400000">
              <a:srgbClr val="1B2735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51560" y="2606040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27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順調な領域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51560" y="3108960"/>
            <a:ext cx="44042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663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上期の伸びを支えた要因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51560" y="3611880"/>
            <a:ext cx="440420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産業機械の受注増（大型案件）</a:t>
            </a:r>
            <a:endParaRPr lang="en-US" sz="1500" dirty="0"/>
          </a:p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保守・サービス売上の安定</a:t>
            </a:r>
            <a:endParaRPr lang="en-US" sz="1500" dirty="0"/>
          </a:p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価格改定の浸透が進んだ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735928" y="2606040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A5E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要注意の領域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735928" y="3108960"/>
            <a:ext cx="44042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663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下期に利益を圧迫しうる要因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735928" y="3611880"/>
            <a:ext cx="440420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電子部品の部材原価上昇</a:t>
            </a:r>
            <a:endParaRPr lang="en-US" sz="1500" dirty="0"/>
          </a:p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為替（円安）の調達コスト影響</a:t>
            </a:r>
            <a:endParaRPr lang="en-US" sz="1500" dirty="0"/>
          </a:p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人件費・採用費の増加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8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サンプル製造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8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80960" y="1097280"/>
            <a:ext cx="387065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6384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640080" y="2747772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" name="Text 2"/>
          <p:cNvSpPr/>
          <p:nvPr/>
        </p:nvSpPr>
        <p:spPr>
          <a:xfrm>
            <a:off x="877824" y="2697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100" kern="0" dirty="0">
                <a:solidFill>
                  <a:srgbClr val="5FA8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下期に向けて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320040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下期の重点課題と打ち手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AAB8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増収を維持しつつ、原価上昇をどう吸収するか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90372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100" kern="0" dirty="0">
                <a:solidFill>
                  <a:srgbClr val="0E7C8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下期の打ち手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1B27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利益を守る、3つの打ち手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2286000"/>
            <a:ext cx="4754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5663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下期は増収基調を維持できる見込みですが、部材原価と人件費の上昇が利益率を押し下げるリスクがあります。利益を守るための打ち手を3つに絞りました。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897880" y="2240280"/>
            <a:ext cx="420624" cy="42062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897880" y="2240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501384" y="2194560"/>
            <a:ext cx="50502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27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価格マネジメント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01384" y="2624328"/>
            <a:ext cx="505023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663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原価連動の価格改定を継続し、改定の浸透状況を月次でモニタリングする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897880" y="3538728"/>
            <a:ext cx="420624" cy="42062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1" name="Text 9"/>
          <p:cNvSpPr/>
          <p:nvPr/>
        </p:nvSpPr>
        <p:spPr>
          <a:xfrm>
            <a:off x="5897880" y="35387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01384" y="3493008"/>
            <a:ext cx="50502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27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調達改革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501384" y="3922776"/>
            <a:ext cx="505023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663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主要部材の複社購買とVA/VEで、調達コストの上昇を一部吸収する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897880" y="4837176"/>
            <a:ext cx="420624" cy="42062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5" name="Text 13"/>
          <p:cNvSpPr/>
          <p:nvPr/>
        </p:nvSpPr>
        <p:spPr>
          <a:xfrm>
            <a:off x="5897880" y="48371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501384" y="4791456"/>
            <a:ext cx="50502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27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固定費の規律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501384" y="5221224"/>
            <a:ext cx="505023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663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採用は利益貢献部門に限定し、固定費の伸びを売上の伸びの範囲内に収める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8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サンプル製造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8A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377440" y="-2377440"/>
            <a:ext cx="5852160" cy="5852160"/>
          </a:xfrm>
          <a:prstGeom prst="ellipse">
            <a:avLst/>
          </a:prstGeom>
          <a:solidFill>
            <a:srgbClr val="26384C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1421892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" name="Text 2"/>
          <p:cNvSpPr/>
          <p:nvPr/>
        </p:nvSpPr>
        <p:spPr>
          <a:xfrm>
            <a:off x="877824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100" kern="0" dirty="0">
                <a:solidFill>
                  <a:srgbClr val="5FA8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次のアクション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下期計画の承認を</a:t>
            </a:r>
            <a:endParaRPr lang="en-US" sz="32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お願いします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3886200"/>
            <a:ext cx="7955280" cy="1691640"/>
          </a:xfrm>
          <a:prstGeom prst="roundRect">
            <a:avLst>
              <a:gd name="adj" fmla="val 5405"/>
            </a:avLst>
          </a:prstGeom>
          <a:solidFill>
            <a:srgbClr val="0E7C86"/>
          </a:solidFill>
          <a:ln/>
          <a:effectLst>
            <a:outerShdw sx="100000" sy="100000" kx="0" ky="0" algn="bl" rotWithShape="0" blurRad="127000" dist="50800" dir="5400000">
              <a:srgbClr val="1B2735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97280" y="4178808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本日ご決定いただきたい事項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97280" y="4727448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EAF7F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下期の価格改定方針　② 調達改革の予算枠　③ 採用計画の見直し。詳細は別紙「下期予算案」をご参照ください。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AAB8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資料作成：経営企画部 ／ 問い合わせ：keiei@example.co.jp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FY2026 上期 経営レビュー（サンプル）</dc:title>
  <dc:subject>PptxGenJS Presentation</dc:subject>
  <dc:creator>サンプル製造株式会社</dc:creator>
  <cp:lastModifiedBy>サンプル製造株式会社</cp:lastModifiedBy>
  <cp:revision>1</cp:revision>
  <dcterms:created xsi:type="dcterms:W3CDTF">2026-06-30T16:28:17Z</dcterms:created>
  <dcterms:modified xsi:type="dcterms:W3CDTF">2026-06-30T16:28:17Z</dcterms:modified>
</cp:coreProperties>
</file>