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売上高（億円）</c:v>
                </c:pt>
              </c:strCache>
            </c:strRef>
          </c:tx>
          <c:spPr>
            <a:solidFill>
              <a:srgbClr val="0E7C86"/>
            </a:solidFill>
            <a:effectLst/>
          </c:spPr>
          <c:invertIfNegative val="0"/>
          <c:dLbls>
            <c:numFmt formatCode="#,##0.0;▲#,##0.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735"/>
                    </a:solidFill>
                    <a:latin typeface="Yu Gothic Medium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前Q3</c:v>
                  </c:pt>
                  <c:pt idx="1">
                    <c:v>前Q4</c:v>
                  </c:pt>
                  <c:pt idx="2">
                    <c:v>当Q1</c:v>
                  </c:pt>
                  <c:pt idx="3">
                    <c:v>当Q2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21.8</c:v>
                </c:pt>
                <c:pt idx="1">
                  <c:v>22.6</c:v>
                </c:pt>
                <c:pt idx="2">
                  <c:v>23.1</c:v>
                </c:pt>
                <c:pt idx="3">
                  <c:v>25.1</c:v>
                </c:pt>
              </c:numCache>
            </c:numRef>
          </c:val>
        </c:ser>
        <c:dLbls>
          <c:numFmt formatCode="#,##0.0;▲#,##0.0" sourceLinked="0"/>
          <c:txPr>
            <a:bodyPr/>
            <a:lstStyle/>
            <a:p>
              <a:pPr>
                <a:defRPr b="0" i="0" strike="noStrike" sz="1200" u="none">
                  <a:solidFill>
                    <a:srgbClr val="1B2735"/>
                  </a:solidFill>
                  <a:latin typeface="Yu Gothic Medium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66373"/>
                </a:solidFill>
                <a:latin typeface="Yu Gothic Medium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社内向けの業績レビュー。結論を先に、根拠を後に。数値は社内管理・速報ベースである旨を最初に共有する。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1スライド1メッセージ。良いニュース（増収増益）と論点（原価）を一文で。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章扉。ダークで区切る。watermarkの章番号がモチーフ。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KPIサマリー。利益率を強調カードに。各カードに前年比を併記して文脈を出す。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ネイティブ縦棒。単位は系列名に明記。前年同四半期比は口頭/テキストで補足。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ネイティブ表（編集可）。数値列は自動で右寄せ。前提・単位はnoteで明示し誤読を防ぐ。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対比カード。右（要注意＝打ち手の対象）を強調色で。塗りと影だけ、縦帯は使わない。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第2章。論点（原価）に対する打ち手へ。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左で全体像（論点）、右で3つの打ち手。打ち手は具体的なアクションで書く。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締めはダークでcoverと呼応（sandwich）。意思決定事項を3点に絞って明示する。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0" y="3383280"/>
            <a:ext cx="6583680" cy="6583680"/>
          </a:xfrm>
          <a:prstGeom prst="ellipse">
            <a:avLst/>
          </a:prstGeom>
          <a:solidFill>
            <a:srgbClr val="26384C"/>
          </a:solidFill>
          <a:ln/>
        </p:spPr>
      </p:sp>
      <p:sp>
        <p:nvSpPr>
          <p:cNvPr id="3" name="Shape 1"/>
          <p:cNvSpPr/>
          <p:nvPr/>
        </p:nvSpPr>
        <p:spPr>
          <a:xfrm>
            <a:off x="685800" y="1467612"/>
            <a:ext cx="118872" cy="118872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4" name="Text 2"/>
          <p:cNvSpPr/>
          <p:nvPr/>
        </p:nvSpPr>
        <p:spPr>
          <a:xfrm>
            <a:off x="923544" y="1417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rgbClr val="5FA8A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取締役会資料（社内）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85800" y="2011680"/>
            <a:ext cx="9144000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4400" b="1" spc="-20" kern="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FY2026 上期</a:t>
            </a:r>
            <a:endParaRPr lang="en-US" sz="44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4400" b="1" spc="-20" kern="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経営レビュー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685800" y="4297680"/>
            <a:ext cx="8686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700" dirty="0">
                <a:solidFill>
                  <a:srgbClr val="AAB8C7"/>
                </a:solidFill>
                <a:latin typeface="Yu Gothic Medium" pitchFamily="34" charset="0"/>
                <a:ea typeface="Yu Gothic Medium" pitchFamily="34" charset="-122"/>
                <a:cs typeface="Yu Gothic Medium" pitchFamily="34" charset="-120"/>
              </a:rPr>
              <a:t>業績の振り返りと、下期の打ち手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85800" y="6080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AAB8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サンプル製造株式会社　｜　経営企画部　｜　2026年7月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736092"/>
            <a:ext cx="118872" cy="118872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923544" y="685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rgbClr val="0E7C8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上期サマリー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914400" y="1828800"/>
            <a:ext cx="1036289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3200" b="1" spc="-20" kern="0" dirty="0">
                <a:solidFill>
                  <a:srgbClr val="1B273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上期は増収増益。下期は、</a:t>
            </a:r>
            <a:endParaRPr lang="en-US" sz="3200" dirty="0"/>
          </a:p>
          <a:p>
            <a:pPr algn="ctr" indent="0" marL="0">
              <a:lnSpc>
                <a:spcPct val="118000"/>
              </a:lnSpc>
              <a:buNone/>
            </a:pPr>
            <a:r>
              <a:rPr lang="en-US" sz="3200" b="1" spc="-20" kern="0" dirty="0">
                <a:solidFill>
                  <a:srgbClr val="1B273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原価上昇への対応が利益を左右する。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914400" y="3611880"/>
            <a:ext cx="1036289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0E7C8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+9.3%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2377440" y="4800600"/>
            <a:ext cx="74368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1350" dirty="0">
                <a:solidFill>
                  <a:srgbClr val="56637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売上高 前年同期比（上期）。営業利益率は 8.4%</a:t>
            </a:r>
            <a:endParaRPr lang="en-US" sz="135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1350" dirty="0">
                <a:solidFill>
                  <a:srgbClr val="56637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（前年同期 7.0%）。※社内管理数値・速報ベース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85800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8A98A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サンプル製造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59149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A98A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80960" y="1097280"/>
            <a:ext cx="3824935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0" b="1" dirty="0">
                <a:solidFill>
                  <a:srgbClr val="26384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01</a:t>
            </a:r>
            <a:endParaRPr lang="en-US" sz="15000" dirty="0"/>
          </a:p>
        </p:txBody>
      </p:sp>
      <p:sp>
        <p:nvSpPr>
          <p:cNvPr id="3" name="Shape 1"/>
          <p:cNvSpPr/>
          <p:nvPr/>
        </p:nvSpPr>
        <p:spPr>
          <a:xfrm>
            <a:off x="685800" y="2747772"/>
            <a:ext cx="118872" cy="118872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4" name="Text 2"/>
          <p:cNvSpPr/>
          <p:nvPr/>
        </p:nvSpPr>
        <p:spPr>
          <a:xfrm>
            <a:off x="923544" y="2697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rgbClr val="5FA8A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業績レビュー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85800" y="3200400"/>
            <a:ext cx="73152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3600" b="1" spc="-20" kern="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上期業績ハイライト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685800" y="44348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700" dirty="0">
                <a:solidFill>
                  <a:srgbClr val="AAB8C7"/>
                </a:solidFill>
                <a:latin typeface="Yu Gothic Medium" pitchFamily="34" charset="0"/>
                <a:ea typeface="Yu Gothic Medium" pitchFamily="34" charset="-122"/>
                <a:cs typeface="Yu Gothic Medium" pitchFamily="34" charset="-120"/>
              </a:rPr>
              <a:t>売上・利益・財務体質を順に確認します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736092"/>
            <a:ext cx="118872" cy="118872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923544" y="685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rgbClr val="0E7C8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上期実績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85800" y="1051560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3000" b="1" spc="-20" kern="0" dirty="0">
                <a:solidFill>
                  <a:srgbClr val="1B273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上期は増収・増益で着地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85800" y="2468880"/>
            <a:ext cx="2430704" cy="3154680"/>
          </a:xfrm>
          <a:prstGeom prst="roundRect">
            <a:avLst>
              <a:gd name="adj" fmla="val 3762"/>
            </a:avLst>
          </a:prstGeom>
          <a:solidFill>
            <a:srgbClr val="F3F5F7"/>
          </a:solidFill>
          <a:ln/>
          <a:effectLst>
            <a:outerShdw sx="100000" sy="100000" kx="0" ky="0" algn="bl" rotWithShape="0" blurRad="127000" dist="50800" dir="5400000">
              <a:srgbClr val="1B2735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051560" y="2926080"/>
            <a:ext cx="16991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0E7C8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48.2億円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1051560" y="4114800"/>
            <a:ext cx="16991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B273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売上高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1051560" y="4590288"/>
            <a:ext cx="16991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350" dirty="0">
                <a:solidFill>
                  <a:srgbClr val="566373"/>
                </a:solidFill>
                <a:latin typeface="Yu Gothic Medium" pitchFamily="34" charset="0"/>
                <a:ea typeface="Yu Gothic Medium" pitchFamily="34" charset="-122"/>
                <a:cs typeface="Yu Gothic Medium" pitchFamily="34" charset="-120"/>
              </a:rPr>
              <a:t>前年同期 44.1億円（+9.3%）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3482264" y="2468880"/>
            <a:ext cx="2430704" cy="3154680"/>
          </a:xfrm>
          <a:prstGeom prst="roundRect">
            <a:avLst>
              <a:gd name="adj" fmla="val 3762"/>
            </a:avLst>
          </a:prstGeom>
          <a:solidFill>
            <a:srgbClr val="F3F5F7"/>
          </a:solidFill>
          <a:ln/>
          <a:effectLst>
            <a:outerShdw sx="100000" sy="100000" kx="0" ky="0" algn="bl" rotWithShape="0" blurRad="127000" dist="50800" dir="5400000">
              <a:srgbClr val="1B2735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848024" y="2926080"/>
            <a:ext cx="16991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0E7C8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4.05億円</a:t>
            </a:r>
            <a:endParaRPr lang="en-US" sz="4000" dirty="0"/>
          </a:p>
        </p:txBody>
      </p:sp>
      <p:sp>
        <p:nvSpPr>
          <p:cNvPr id="11" name="Text 9"/>
          <p:cNvSpPr/>
          <p:nvPr/>
        </p:nvSpPr>
        <p:spPr>
          <a:xfrm>
            <a:off x="3848024" y="4114800"/>
            <a:ext cx="16991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B273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営業利益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3848024" y="4590288"/>
            <a:ext cx="16991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350" dirty="0">
                <a:solidFill>
                  <a:srgbClr val="566373"/>
                </a:solidFill>
                <a:latin typeface="Yu Gothic Medium" pitchFamily="34" charset="0"/>
                <a:ea typeface="Yu Gothic Medium" pitchFamily="34" charset="-122"/>
                <a:cs typeface="Yu Gothic Medium" pitchFamily="34" charset="-120"/>
              </a:rPr>
              <a:t>前年同期 3.60億円（+12.5%）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278728" y="2468880"/>
            <a:ext cx="2430704" cy="3154680"/>
          </a:xfrm>
          <a:prstGeom prst="roundRect">
            <a:avLst>
              <a:gd name="adj" fmla="val 3762"/>
            </a:avLst>
          </a:prstGeom>
          <a:solidFill>
            <a:srgbClr val="E9F3F3"/>
          </a:solidFill>
          <a:ln/>
          <a:effectLst>
            <a:outerShdw sx="100000" sy="100000" kx="0" ky="0" algn="bl" rotWithShape="0" blurRad="127000" dist="50800" dir="5400000">
              <a:srgbClr val="1B2735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644488" y="2926080"/>
            <a:ext cx="16991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0A5E6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8.4%</a:t>
            </a:r>
            <a:endParaRPr lang="en-US" sz="4000" dirty="0"/>
          </a:p>
        </p:txBody>
      </p:sp>
      <p:sp>
        <p:nvSpPr>
          <p:cNvPr id="15" name="Text 13"/>
          <p:cNvSpPr/>
          <p:nvPr/>
        </p:nvSpPr>
        <p:spPr>
          <a:xfrm>
            <a:off x="6644488" y="4114800"/>
            <a:ext cx="16991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B273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営業利益率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6644488" y="4590288"/>
            <a:ext cx="16991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350" dirty="0">
                <a:solidFill>
                  <a:srgbClr val="566373"/>
                </a:solidFill>
                <a:latin typeface="Yu Gothic Medium" pitchFamily="34" charset="0"/>
                <a:ea typeface="Yu Gothic Medium" pitchFamily="34" charset="-122"/>
                <a:cs typeface="Yu Gothic Medium" pitchFamily="34" charset="-120"/>
              </a:rPr>
              <a:t>前年同期 7.0%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9075191" y="2468880"/>
            <a:ext cx="2430704" cy="3154680"/>
          </a:xfrm>
          <a:prstGeom prst="roundRect">
            <a:avLst>
              <a:gd name="adj" fmla="val 3762"/>
            </a:avLst>
          </a:prstGeom>
          <a:solidFill>
            <a:srgbClr val="F3F5F7"/>
          </a:solidFill>
          <a:ln/>
          <a:effectLst>
            <a:outerShdw sx="100000" sy="100000" kx="0" ky="0" algn="bl" rotWithShape="0" blurRad="127000" dist="50800" dir="5400000">
              <a:srgbClr val="1B2735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440951" y="2926080"/>
            <a:ext cx="16991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0E7C8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52%</a:t>
            </a:r>
            <a:endParaRPr lang="en-US" sz="4000" dirty="0"/>
          </a:p>
        </p:txBody>
      </p:sp>
      <p:sp>
        <p:nvSpPr>
          <p:cNvPr id="19" name="Text 17"/>
          <p:cNvSpPr/>
          <p:nvPr/>
        </p:nvSpPr>
        <p:spPr>
          <a:xfrm>
            <a:off x="9440951" y="4114800"/>
            <a:ext cx="16991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B273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自己資本比率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9440951" y="4590288"/>
            <a:ext cx="16991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350" dirty="0">
                <a:solidFill>
                  <a:srgbClr val="566373"/>
                </a:solidFill>
                <a:latin typeface="Yu Gothic Medium" pitchFamily="34" charset="0"/>
                <a:ea typeface="Yu Gothic Medium" pitchFamily="34" charset="-122"/>
                <a:cs typeface="Yu Gothic Medium" pitchFamily="34" charset="-120"/>
              </a:rPr>
              <a:t>前期末 49%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685800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8A98A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サンプル製造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059149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A98A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736092"/>
            <a:ext cx="118872" cy="118872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923544" y="685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rgbClr val="0E7C8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四半期推移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85800" y="1051560"/>
            <a:ext cx="77724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3000" b="1" spc="-20" kern="0" dirty="0">
                <a:solidFill>
                  <a:srgbClr val="1B273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直近2四半期で、増収が加速</a:t>
            </a:r>
            <a:endParaRPr lang="en-US" sz="3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85800" y="2011680"/>
          <a:ext cx="676656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7818120" y="2194560"/>
            <a:ext cx="3687775" cy="3520440"/>
          </a:xfrm>
          <a:prstGeom prst="roundRect">
            <a:avLst>
              <a:gd name="adj" fmla="val 2597"/>
            </a:avLst>
          </a:prstGeom>
          <a:solidFill>
            <a:srgbClr val="E9F3F3"/>
          </a:solidFill>
          <a:ln/>
          <a:effectLst>
            <a:outerShdw sx="100000" sy="100000" kx="0" ky="0" algn="bl" rotWithShape="0" blurRad="127000" dist="50800" dir="5400000">
              <a:srgbClr val="1B2735">
                <a:alpha val="10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202168" y="2560320"/>
            <a:ext cx="291967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900" b="1" dirty="0">
                <a:solidFill>
                  <a:srgbClr val="0A5E6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受注増 → 増収</a:t>
            </a:r>
            <a:endParaRPr lang="en-US" sz="1900" dirty="0"/>
          </a:p>
        </p:txBody>
      </p:sp>
      <p:sp>
        <p:nvSpPr>
          <p:cNvPr id="8" name="Text 5"/>
          <p:cNvSpPr/>
          <p:nvPr/>
        </p:nvSpPr>
        <p:spPr>
          <a:xfrm>
            <a:off x="8202168" y="3456432"/>
            <a:ext cx="2919679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60000"/>
              </a:lnSpc>
              <a:buNone/>
            </a:pPr>
            <a:r>
              <a:rPr lang="en-US" sz="1500" dirty="0">
                <a:solidFill>
                  <a:srgbClr val="1B2735"/>
                </a:solidFill>
                <a:latin typeface="Yu Gothic Medium" pitchFamily="34" charset="0"/>
                <a:ea typeface="Yu Gothic Medium" pitchFamily="34" charset="-122"/>
                <a:cs typeface="Yu Gothic Medium" pitchFamily="34" charset="-120"/>
              </a:rPr>
              <a:t>産業機械の受注が当Q1以降伸び、当Q2は前年同四半期比+11%。下期もこの基調を維持できるかが焦点です。※速報・社内管理ベース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685800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8A98A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サンプル製造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059149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A98A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736092"/>
            <a:ext cx="118872" cy="118872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923544" y="685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rgbClr val="0E7C8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セグメント別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85800" y="1051560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3000" b="1" spc="-20" kern="0" dirty="0">
                <a:solidFill>
                  <a:srgbClr val="1B273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利益の源泉は産業機械セグメント</a:t>
            </a:r>
            <a:endParaRPr lang="en-US" sz="3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057400"/>
          <a:ext cx="10820095" cy="914400"/>
        </p:xfrm>
        <a:graphic>
          <a:graphicData uri="http://schemas.openxmlformats.org/drawingml/2006/table">
            <a:tbl>
              <a:tblPr/>
              <a:tblGrid>
                <a:gridCol w="2164019"/>
                <a:gridCol w="2164019"/>
                <a:gridCol w="2164019"/>
                <a:gridCol w="2164019"/>
                <a:gridCol w="2164019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セグメント</a:t>
                      </a:r>
                      <a:endParaRPr lang="en-US" sz="15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8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売上高</a:t>
                      </a:r>
                      <a:endParaRPr lang="en-US" sz="15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8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構成比</a:t>
                      </a:r>
                      <a:endParaRPr lang="en-US" sz="15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8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営業利益</a:t>
                      </a:r>
                      <a:endParaRPr lang="en-US" sz="15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8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利益率</a:t>
                      </a:r>
                      <a:endParaRPr lang="en-US" sz="15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8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735"/>
                          </a:solidFill>
                          <a:latin typeface="Yu Gothic Medium" pitchFamily="34" charset="0"/>
                          <a:ea typeface="Yu Gothic Medium" pitchFamily="34" charset="-122"/>
                          <a:cs typeface="Yu Gothic Medium" pitchFamily="34" charset="-120"/>
                        </a:rPr>
                        <a:t>産業機械</a:t>
                      </a:r>
                      <a:endParaRPr lang="en-US" sz="1500" dirty="0">
                        <a:latin typeface="Yu Gothic Medium" charset="0"/>
                        <a:ea typeface="Yu Gothic Medium" charset="0"/>
                        <a:cs typeface="Yu Gothic Medium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1B2735"/>
                          </a:solidFill>
                          <a:latin typeface="Yu Gothic Medium" pitchFamily="34" charset="0"/>
                          <a:ea typeface="Yu Gothic Medium" pitchFamily="34" charset="-122"/>
                          <a:cs typeface="Yu Gothic Medium" pitchFamily="34" charset="-120"/>
                        </a:rPr>
                        <a:t>2,560</a:t>
                      </a:r>
                      <a:endParaRPr lang="en-US" sz="1500" dirty="0">
                        <a:latin typeface="Yu Gothic Medium" charset="0"/>
                        <a:ea typeface="Yu Gothic Medium" charset="0"/>
                        <a:cs typeface="Yu Gothic Medium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1B2735"/>
                          </a:solidFill>
                          <a:latin typeface="Yu Gothic Medium" pitchFamily="34" charset="0"/>
                          <a:ea typeface="Yu Gothic Medium" pitchFamily="34" charset="-122"/>
                          <a:cs typeface="Yu Gothic Medium" pitchFamily="34" charset="-120"/>
                        </a:rPr>
                        <a:t>53%</a:t>
                      </a:r>
                      <a:endParaRPr lang="en-US" sz="1500" dirty="0">
                        <a:latin typeface="Yu Gothic Medium" charset="0"/>
                        <a:ea typeface="Yu Gothic Medium" charset="0"/>
                        <a:cs typeface="Yu Gothic Medium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1B2735"/>
                          </a:solidFill>
                          <a:latin typeface="Yu Gothic Medium" pitchFamily="34" charset="0"/>
                          <a:ea typeface="Yu Gothic Medium" pitchFamily="34" charset="-122"/>
                          <a:cs typeface="Yu Gothic Medium" pitchFamily="34" charset="-120"/>
                        </a:rPr>
                        <a:t>268</a:t>
                      </a:r>
                      <a:endParaRPr lang="en-US" sz="1500" dirty="0">
                        <a:latin typeface="Yu Gothic Medium" charset="0"/>
                        <a:ea typeface="Yu Gothic Medium" charset="0"/>
                        <a:cs typeface="Yu Gothic Medium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1B2735"/>
                          </a:solidFill>
                          <a:latin typeface="Yu Gothic Medium" pitchFamily="34" charset="0"/>
                          <a:ea typeface="Yu Gothic Medium" pitchFamily="34" charset="-122"/>
                          <a:cs typeface="Yu Gothic Medium" pitchFamily="34" charset="-120"/>
                        </a:rPr>
                        <a:t>10.5%</a:t>
                      </a:r>
                      <a:endParaRPr lang="en-US" sz="1500" dirty="0">
                        <a:latin typeface="Yu Gothic Medium" charset="0"/>
                        <a:ea typeface="Yu Gothic Medium" charset="0"/>
                        <a:cs typeface="Yu Gothic Medium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735"/>
                          </a:solidFill>
                          <a:latin typeface="Yu Gothic Medium" pitchFamily="34" charset="0"/>
                          <a:ea typeface="Yu Gothic Medium" pitchFamily="34" charset="-122"/>
                          <a:cs typeface="Yu Gothic Medium" pitchFamily="34" charset="-120"/>
                        </a:rPr>
                        <a:t>電子部品</a:t>
                      </a:r>
                      <a:endParaRPr lang="en-US" sz="1500" dirty="0">
                        <a:latin typeface="Yu Gothic Medium" charset="0"/>
                        <a:ea typeface="Yu Gothic Medium" charset="0"/>
                        <a:cs typeface="Yu Gothic Medium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1B2735"/>
                          </a:solidFill>
                          <a:latin typeface="Yu Gothic Medium" pitchFamily="34" charset="0"/>
                          <a:ea typeface="Yu Gothic Medium" pitchFamily="34" charset="-122"/>
                          <a:cs typeface="Yu Gothic Medium" pitchFamily="34" charset="-120"/>
                        </a:rPr>
                        <a:t>1,540</a:t>
                      </a:r>
                      <a:endParaRPr lang="en-US" sz="1500" dirty="0">
                        <a:latin typeface="Yu Gothic Medium" charset="0"/>
                        <a:ea typeface="Yu Gothic Medium" charset="0"/>
                        <a:cs typeface="Yu Gothic Medium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1B2735"/>
                          </a:solidFill>
                          <a:latin typeface="Yu Gothic Medium" pitchFamily="34" charset="0"/>
                          <a:ea typeface="Yu Gothic Medium" pitchFamily="34" charset="-122"/>
                          <a:cs typeface="Yu Gothic Medium" pitchFamily="34" charset="-120"/>
                        </a:rPr>
                        <a:t>32%</a:t>
                      </a:r>
                      <a:endParaRPr lang="en-US" sz="1500" dirty="0">
                        <a:latin typeface="Yu Gothic Medium" charset="0"/>
                        <a:ea typeface="Yu Gothic Medium" charset="0"/>
                        <a:cs typeface="Yu Gothic Medium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1B2735"/>
                          </a:solidFill>
                          <a:latin typeface="Yu Gothic Medium" pitchFamily="34" charset="0"/>
                          <a:ea typeface="Yu Gothic Medium" pitchFamily="34" charset="-122"/>
                          <a:cs typeface="Yu Gothic Medium" pitchFamily="34" charset="-120"/>
                        </a:rPr>
                        <a:t>96</a:t>
                      </a:r>
                      <a:endParaRPr lang="en-US" sz="1500" dirty="0">
                        <a:latin typeface="Yu Gothic Medium" charset="0"/>
                        <a:ea typeface="Yu Gothic Medium" charset="0"/>
                        <a:cs typeface="Yu Gothic Medium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1B2735"/>
                          </a:solidFill>
                          <a:latin typeface="Yu Gothic Medium" pitchFamily="34" charset="0"/>
                          <a:ea typeface="Yu Gothic Medium" pitchFamily="34" charset="-122"/>
                          <a:cs typeface="Yu Gothic Medium" pitchFamily="34" charset="-120"/>
                        </a:rPr>
                        <a:t>6.2%</a:t>
                      </a:r>
                      <a:endParaRPr lang="en-US" sz="1500" dirty="0">
                        <a:latin typeface="Yu Gothic Medium" charset="0"/>
                        <a:ea typeface="Yu Gothic Medium" charset="0"/>
                        <a:cs typeface="Yu Gothic Medium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735"/>
                          </a:solidFill>
                          <a:latin typeface="Yu Gothic Medium" pitchFamily="34" charset="0"/>
                          <a:ea typeface="Yu Gothic Medium" pitchFamily="34" charset="-122"/>
                          <a:cs typeface="Yu Gothic Medium" pitchFamily="34" charset="-120"/>
                        </a:rPr>
                        <a:t>保守・サービス</a:t>
                      </a:r>
                      <a:endParaRPr lang="en-US" sz="1500" dirty="0">
                        <a:latin typeface="Yu Gothic Medium" charset="0"/>
                        <a:ea typeface="Yu Gothic Medium" charset="0"/>
                        <a:cs typeface="Yu Gothic Medium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1B2735"/>
                          </a:solidFill>
                          <a:latin typeface="Yu Gothic Medium" pitchFamily="34" charset="0"/>
                          <a:ea typeface="Yu Gothic Medium" pitchFamily="34" charset="-122"/>
                          <a:cs typeface="Yu Gothic Medium" pitchFamily="34" charset="-120"/>
                        </a:rPr>
                        <a:t>720</a:t>
                      </a:r>
                      <a:endParaRPr lang="en-US" sz="1500" dirty="0">
                        <a:latin typeface="Yu Gothic Medium" charset="0"/>
                        <a:ea typeface="Yu Gothic Medium" charset="0"/>
                        <a:cs typeface="Yu Gothic Medium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1B2735"/>
                          </a:solidFill>
                          <a:latin typeface="Yu Gothic Medium" pitchFamily="34" charset="0"/>
                          <a:ea typeface="Yu Gothic Medium" pitchFamily="34" charset="-122"/>
                          <a:cs typeface="Yu Gothic Medium" pitchFamily="34" charset="-120"/>
                        </a:rPr>
                        <a:t>15%</a:t>
                      </a:r>
                      <a:endParaRPr lang="en-US" sz="1500" dirty="0">
                        <a:latin typeface="Yu Gothic Medium" charset="0"/>
                        <a:ea typeface="Yu Gothic Medium" charset="0"/>
                        <a:cs typeface="Yu Gothic Medium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1B2735"/>
                          </a:solidFill>
                          <a:latin typeface="Yu Gothic Medium" pitchFamily="34" charset="0"/>
                          <a:ea typeface="Yu Gothic Medium" pitchFamily="34" charset="-122"/>
                          <a:cs typeface="Yu Gothic Medium" pitchFamily="34" charset="-120"/>
                        </a:rPr>
                        <a:t>41</a:t>
                      </a:r>
                      <a:endParaRPr lang="en-US" sz="1500" dirty="0">
                        <a:latin typeface="Yu Gothic Medium" charset="0"/>
                        <a:ea typeface="Yu Gothic Medium" charset="0"/>
                        <a:cs typeface="Yu Gothic Medium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1B2735"/>
                          </a:solidFill>
                          <a:latin typeface="Yu Gothic Medium" pitchFamily="34" charset="0"/>
                          <a:ea typeface="Yu Gothic Medium" pitchFamily="34" charset="-122"/>
                          <a:cs typeface="Yu Gothic Medium" pitchFamily="34" charset="-120"/>
                        </a:rPr>
                        <a:t>5.7%</a:t>
                      </a:r>
                      <a:endParaRPr lang="en-US" sz="1500" dirty="0">
                        <a:latin typeface="Yu Gothic Medium" charset="0"/>
                        <a:ea typeface="Yu Gothic Medium" charset="0"/>
                        <a:cs typeface="Yu Gothic Medium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735"/>
                          </a:solidFill>
                          <a:latin typeface="Yu Gothic Medium" pitchFamily="34" charset="0"/>
                          <a:ea typeface="Yu Gothic Medium" pitchFamily="34" charset="-122"/>
                          <a:cs typeface="Yu Gothic Medium" pitchFamily="34" charset="-120"/>
                        </a:rPr>
                        <a:t>合計</a:t>
                      </a:r>
                      <a:endParaRPr lang="en-US" sz="1500" dirty="0">
                        <a:latin typeface="Yu Gothic Medium" charset="0"/>
                        <a:ea typeface="Yu Gothic Medium" charset="0"/>
                        <a:cs typeface="Yu Gothic Medium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1B2735"/>
                          </a:solidFill>
                          <a:latin typeface="Yu Gothic Medium" pitchFamily="34" charset="0"/>
                          <a:ea typeface="Yu Gothic Medium" pitchFamily="34" charset="-122"/>
                          <a:cs typeface="Yu Gothic Medium" pitchFamily="34" charset="-120"/>
                        </a:rPr>
                        <a:t>4,820</a:t>
                      </a:r>
                      <a:endParaRPr lang="en-US" sz="1500" dirty="0">
                        <a:latin typeface="Yu Gothic Medium" charset="0"/>
                        <a:ea typeface="Yu Gothic Medium" charset="0"/>
                        <a:cs typeface="Yu Gothic Medium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1B2735"/>
                          </a:solidFill>
                          <a:latin typeface="Yu Gothic Medium" pitchFamily="34" charset="0"/>
                          <a:ea typeface="Yu Gothic Medium" pitchFamily="34" charset="-122"/>
                          <a:cs typeface="Yu Gothic Medium" pitchFamily="34" charset="-120"/>
                        </a:rPr>
                        <a:t>100%</a:t>
                      </a:r>
                      <a:endParaRPr lang="en-US" sz="1500" dirty="0">
                        <a:latin typeface="Yu Gothic Medium" charset="0"/>
                        <a:ea typeface="Yu Gothic Medium" charset="0"/>
                        <a:cs typeface="Yu Gothic Medium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1B2735"/>
                          </a:solidFill>
                          <a:latin typeface="Yu Gothic Medium" pitchFamily="34" charset="0"/>
                          <a:ea typeface="Yu Gothic Medium" pitchFamily="34" charset="-122"/>
                          <a:cs typeface="Yu Gothic Medium" pitchFamily="34" charset="-120"/>
                        </a:rPr>
                        <a:t>405</a:t>
                      </a:r>
                      <a:endParaRPr lang="en-US" sz="1500" dirty="0">
                        <a:latin typeface="Yu Gothic Medium" charset="0"/>
                        <a:ea typeface="Yu Gothic Medium" charset="0"/>
                        <a:cs typeface="Yu Gothic Medium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1B2735"/>
                          </a:solidFill>
                          <a:latin typeface="Yu Gothic Medium" pitchFamily="34" charset="0"/>
                          <a:ea typeface="Yu Gothic Medium" pitchFamily="34" charset="-122"/>
                          <a:cs typeface="Yu Gothic Medium" pitchFamily="34" charset="-120"/>
                        </a:rPr>
                        <a:t>8.4%</a:t>
                      </a:r>
                      <a:endParaRPr lang="en-US" sz="1500" dirty="0">
                        <a:latin typeface="Yu Gothic Medium" charset="0"/>
                        <a:ea typeface="Yu Gothic Medium" charset="0"/>
                        <a:cs typeface="Yu Gothic Medium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85800" y="6053328"/>
            <a:ext cx="10820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8A98A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単位：百万円（上期実績、社内管理ベース）。営業利益はセグメント間配賦後。構成比は四捨五入のため合計が100%にならない場合があります。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685800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8A98A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サンプル製造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1059149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A98A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736092"/>
            <a:ext cx="118872" cy="118872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923544" y="685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rgbClr val="0E7C8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下期に向けた論点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85800" y="1051560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3000" b="1" spc="-20" kern="0" dirty="0">
                <a:solidFill>
                  <a:srgbClr val="1B273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順調な領域と、要注意の領域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85800" y="2286000"/>
            <a:ext cx="5181448" cy="3611880"/>
          </a:xfrm>
          <a:prstGeom prst="roundRect">
            <a:avLst>
              <a:gd name="adj" fmla="val 2532"/>
            </a:avLst>
          </a:prstGeom>
          <a:solidFill>
            <a:srgbClr val="F3F5F7"/>
          </a:solidFill>
          <a:ln/>
          <a:effectLst>
            <a:outerShdw sx="100000" sy="100000" kx="0" ky="0" algn="bl" rotWithShape="0" blurRad="127000" dist="50800" dir="5400000">
              <a:srgbClr val="1B2735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324448" y="2286000"/>
            <a:ext cx="5181448" cy="3611880"/>
          </a:xfrm>
          <a:prstGeom prst="roundRect">
            <a:avLst>
              <a:gd name="adj" fmla="val 2532"/>
            </a:avLst>
          </a:prstGeom>
          <a:solidFill>
            <a:srgbClr val="E9F3F3"/>
          </a:solidFill>
          <a:ln/>
          <a:effectLst>
            <a:outerShdw sx="100000" sy="100000" kx="0" ky="0" algn="bl" rotWithShape="0" blurRad="127000" dist="50800" dir="5400000">
              <a:srgbClr val="1B2735">
                <a:alpha val="1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143000" y="2670048"/>
            <a:ext cx="42670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1B273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順調な領域</a:t>
            </a:r>
            <a:endParaRPr lang="en-US" sz="2300" dirty="0"/>
          </a:p>
        </p:txBody>
      </p:sp>
      <p:sp>
        <p:nvSpPr>
          <p:cNvPr id="8" name="Text 6"/>
          <p:cNvSpPr/>
          <p:nvPr/>
        </p:nvSpPr>
        <p:spPr>
          <a:xfrm>
            <a:off x="1143000" y="3182112"/>
            <a:ext cx="42670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566373"/>
                </a:solidFill>
                <a:latin typeface="Yu Gothic Medium" pitchFamily="34" charset="0"/>
                <a:ea typeface="Yu Gothic Medium" pitchFamily="34" charset="-122"/>
                <a:cs typeface="Yu Gothic Medium" pitchFamily="34" charset="-120"/>
              </a:rPr>
              <a:t>上期の伸びを支えた要因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1143000" y="3703320"/>
            <a:ext cx="4267048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lnSpc>
                <a:spcPct val="140000"/>
              </a:lnSpc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1B2735"/>
                </a:solidFill>
                <a:latin typeface="Yu Gothic Medium" pitchFamily="34" charset="0"/>
                <a:ea typeface="Yu Gothic Medium" pitchFamily="34" charset="-122"/>
                <a:cs typeface="Yu Gothic Medium" pitchFamily="34" charset="-120"/>
              </a:rPr>
              <a:t>産業機械の受注増（大型案件）</a:t>
            </a:r>
            <a:endParaRPr lang="en-US" sz="1500" dirty="0"/>
          </a:p>
          <a:p>
            <a:pPr algn="l" marL="177800" indent="-177800">
              <a:lnSpc>
                <a:spcPct val="140000"/>
              </a:lnSpc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1B2735"/>
                </a:solidFill>
                <a:latin typeface="Yu Gothic Medium" pitchFamily="34" charset="0"/>
                <a:ea typeface="Yu Gothic Medium" pitchFamily="34" charset="-122"/>
                <a:cs typeface="Yu Gothic Medium" pitchFamily="34" charset="-120"/>
              </a:rPr>
              <a:t>保守・サービス売上の安定</a:t>
            </a:r>
            <a:endParaRPr lang="en-US" sz="1500" dirty="0"/>
          </a:p>
          <a:p>
            <a:pPr algn="l" marL="177800" indent="-177800">
              <a:lnSpc>
                <a:spcPct val="140000"/>
              </a:lnSpc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1B2735"/>
                </a:solidFill>
                <a:latin typeface="Yu Gothic Medium" pitchFamily="34" charset="0"/>
                <a:ea typeface="Yu Gothic Medium" pitchFamily="34" charset="-122"/>
                <a:cs typeface="Yu Gothic Medium" pitchFamily="34" charset="-120"/>
              </a:rPr>
              <a:t>価格改定の浸透が進んだ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781648" y="2670048"/>
            <a:ext cx="42670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0A5E6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要注意の領域</a:t>
            </a:r>
            <a:endParaRPr lang="en-US" sz="2300" dirty="0"/>
          </a:p>
        </p:txBody>
      </p:sp>
      <p:sp>
        <p:nvSpPr>
          <p:cNvPr id="11" name="Text 9"/>
          <p:cNvSpPr/>
          <p:nvPr/>
        </p:nvSpPr>
        <p:spPr>
          <a:xfrm>
            <a:off x="6781648" y="3182112"/>
            <a:ext cx="42670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566373"/>
                </a:solidFill>
                <a:latin typeface="Yu Gothic Medium" pitchFamily="34" charset="0"/>
                <a:ea typeface="Yu Gothic Medium" pitchFamily="34" charset="-122"/>
                <a:cs typeface="Yu Gothic Medium" pitchFamily="34" charset="-120"/>
              </a:rPr>
              <a:t>下期に利益を圧迫しうる要因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6781648" y="3703320"/>
            <a:ext cx="4267048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lnSpc>
                <a:spcPct val="140000"/>
              </a:lnSpc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1B2735"/>
                </a:solidFill>
                <a:latin typeface="Yu Gothic Medium" pitchFamily="34" charset="0"/>
                <a:ea typeface="Yu Gothic Medium" pitchFamily="34" charset="-122"/>
                <a:cs typeface="Yu Gothic Medium" pitchFamily="34" charset="-120"/>
              </a:rPr>
              <a:t>電子部品の部材原価上昇</a:t>
            </a:r>
            <a:endParaRPr lang="en-US" sz="1500" dirty="0"/>
          </a:p>
          <a:p>
            <a:pPr algn="l" marL="177800" indent="-177800">
              <a:lnSpc>
                <a:spcPct val="140000"/>
              </a:lnSpc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1B2735"/>
                </a:solidFill>
                <a:latin typeface="Yu Gothic Medium" pitchFamily="34" charset="0"/>
                <a:ea typeface="Yu Gothic Medium" pitchFamily="34" charset="-122"/>
                <a:cs typeface="Yu Gothic Medium" pitchFamily="34" charset="-120"/>
              </a:rPr>
              <a:t>為替（円安）の調達コスト影響</a:t>
            </a:r>
            <a:endParaRPr lang="en-US" sz="1500" dirty="0"/>
          </a:p>
          <a:p>
            <a:pPr algn="l" marL="177800" indent="-177800">
              <a:lnSpc>
                <a:spcPct val="140000"/>
              </a:lnSpc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1B2735"/>
                </a:solidFill>
                <a:latin typeface="Yu Gothic Medium" pitchFamily="34" charset="0"/>
                <a:ea typeface="Yu Gothic Medium" pitchFamily="34" charset="-122"/>
                <a:cs typeface="Yu Gothic Medium" pitchFamily="34" charset="-120"/>
              </a:rPr>
              <a:t>人件費・採用費の増加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85800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8A98A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サンプル製造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059149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A98A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E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80960" y="1097280"/>
            <a:ext cx="3824935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0" b="1" dirty="0">
                <a:solidFill>
                  <a:srgbClr val="26384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02</a:t>
            </a:r>
            <a:endParaRPr lang="en-US" sz="15000" dirty="0"/>
          </a:p>
        </p:txBody>
      </p:sp>
      <p:sp>
        <p:nvSpPr>
          <p:cNvPr id="3" name="Shape 1"/>
          <p:cNvSpPr/>
          <p:nvPr/>
        </p:nvSpPr>
        <p:spPr>
          <a:xfrm>
            <a:off x="685800" y="2747772"/>
            <a:ext cx="118872" cy="118872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4" name="Text 2"/>
          <p:cNvSpPr/>
          <p:nvPr/>
        </p:nvSpPr>
        <p:spPr>
          <a:xfrm>
            <a:off x="923544" y="2697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rgbClr val="5FA8A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下期に向けて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85800" y="3200400"/>
            <a:ext cx="73152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3600" b="1" spc="-20" kern="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下期の重点課題と打ち手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685800" y="44348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700" dirty="0">
                <a:solidFill>
                  <a:srgbClr val="AAB8C7"/>
                </a:solidFill>
                <a:latin typeface="Yu Gothic Medium" pitchFamily="34" charset="0"/>
                <a:ea typeface="Yu Gothic Medium" pitchFamily="34" charset="-122"/>
                <a:cs typeface="Yu Gothic Medium" pitchFamily="34" charset="-120"/>
              </a:rPr>
              <a:t>増収を維持しつつ、原価上昇をどう吸収するか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736092"/>
            <a:ext cx="118872" cy="118872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923544" y="685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rgbClr val="0E7C8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下期の打ち手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85800" y="105156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3000" b="1" spc="-20" kern="0" dirty="0">
                <a:solidFill>
                  <a:srgbClr val="1B273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利益を守る、3つの打ち手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85800" y="2331720"/>
            <a:ext cx="45720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60000"/>
              </a:lnSpc>
              <a:buNone/>
            </a:pPr>
            <a:r>
              <a:rPr lang="en-US" sz="1500" dirty="0">
                <a:solidFill>
                  <a:srgbClr val="566373"/>
                </a:solidFill>
                <a:latin typeface="Yu Gothic Medium" pitchFamily="34" charset="0"/>
                <a:ea typeface="Yu Gothic Medium" pitchFamily="34" charset="-122"/>
                <a:cs typeface="Yu Gothic Medium" pitchFamily="34" charset="-120"/>
              </a:rPr>
              <a:t>下期は増収基調を維持できる見込みですが、部材原価と人件費の上昇が利益率を押し下げるリスクがあります。利益を守るための打ち手を3つに絞りました。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897880" y="2286000"/>
            <a:ext cx="420624" cy="420624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7" name="Text 5"/>
          <p:cNvSpPr/>
          <p:nvPr/>
        </p:nvSpPr>
        <p:spPr>
          <a:xfrm>
            <a:off x="5897880" y="22860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6501384" y="2240280"/>
            <a:ext cx="50045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B273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価格マネジメント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6501384" y="2688336"/>
            <a:ext cx="5004511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350" dirty="0">
                <a:solidFill>
                  <a:srgbClr val="566373"/>
                </a:solidFill>
                <a:latin typeface="Yu Gothic Medium" pitchFamily="34" charset="0"/>
                <a:ea typeface="Yu Gothic Medium" pitchFamily="34" charset="-122"/>
                <a:cs typeface="Yu Gothic Medium" pitchFamily="34" charset="-120"/>
              </a:rPr>
              <a:t>原価連動の価格改定を継続し、改定の浸透状況を月次でモニタリングする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897880" y="3621024"/>
            <a:ext cx="420624" cy="420624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11" name="Text 9"/>
          <p:cNvSpPr/>
          <p:nvPr/>
        </p:nvSpPr>
        <p:spPr>
          <a:xfrm>
            <a:off x="5897880" y="362102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6501384" y="3575304"/>
            <a:ext cx="50045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B273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調達改革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6501384" y="4023360"/>
            <a:ext cx="5004511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350" dirty="0">
                <a:solidFill>
                  <a:srgbClr val="566373"/>
                </a:solidFill>
                <a:latin typeface="Yu Gothic Medium" pitchFamily="34" charset="0"/>
                <a:ea typeface="Yu Gothic Medium" pitchFamily="34" charset="-122"/>
                <a:cs typeface="Yu Gothic Medium" pitchFamily="34" charset="-120"/>
              </a:rPr>
              <a:t>主要部材の複社購買とVA/VEで、調達コストの上昇を一部吸収する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5897880" y="4956048"/>
            <a:ext cx="420624" cy="420624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15" name="Text 13"/>
          <p:cNvSpPr/>
          <p:nvPr/>
        </p:nvSpPr>
        <p:spPr>
          <a:xfrm>
            <a:off x="5897880" y="49560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6501384" y="4910328"/>
            <a:ext cx="50045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B273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固定費の規律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6501384" y="5358384"/>
            <a:ext cx="5004511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350" dirty="0">
                <a:solidFill>
                  <a:srgbClr val="566373"/>
                </a:solidFill>
                <a:latin typeface="Yu Gothic Medium" pitchFamily="34" charset="0"/>
                <a:ea typeface="Yu Gothic Medium" pitchFamily="34" charset="-122"/>
                <a:cs typeface="Yu Gothic Medium" pitchFamily="34" charset="-120"/>
              </a:rPr>
              <a:t>採用は利益貢献部門に限定し、固定費の伸びを売上の伸びの範囲内に収める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685800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8A98A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サンプル製造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059149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A98A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377440" y="-2377440"/>
            <a:ext cx="5852160" cy="5852160"/>
          </a:xfrm>
          <a:prstGeom prst="ellipse">
            <a:avLst/>
          </a:prstGeom>
          <a:solidFill>
            <a:srgbClr val="26384C"/>
          </a:solidFill>
          <a:ln/>
        </p:spPr>
      </p:sp>
      <p:sp>
        <p:nvSpPr>
          <p:cNvPr id="3" name="Shape 1"/>
          <p:cNvSpPr/>
          <p:nvPr/>
        </p:nvSpPr>
        <p:spPr>
          <a:xfrm>
            <a:off x="685800" y="1421892"/>
            <a:ext cx="118872" cy="118872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4" name="Text 2"/>
          <p:cNvSpPr/>
          <p:nvPr/>
        </p:nvSpPr>
        <p:spPr>
          <a:xfrm>
            <a:off x="923544" y="1371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rgbClr val="5FA8A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次のアクション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85800" y="1965960"/>
            <a:ext cx="10058400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3200" b="1" spc="-20" kern="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下期計画の承認を</a:t>
            </a:r>
            <a:endParaRPr lang="en-US" sz="32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3200" b="1" spc="-20" kern="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お願いします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685800" y="3886200"/>
            <a:ext cx="7955280" cy="1691640"/>
          </a:xfrm>
          <a:prstGeom prst="roundRect">
            <a:avLst>
              <a:gd name="adj" fmla="val 5405"/>
            </a:avLst>
          </a:prstGeom>
          <a:solidFill>
            <a:srgbClr val="0E7C86"/>
          </a:solidFill>
          <a:ln/>
          <a:effectLst>
            <a:outerShdw sx="100000" sy="100000" kx="0" ky="0" algn="bl" rotWithShape="0" blurRad="127000" dist="50800" dir="5400000">
              <a:srgbClr val="1B2735">
                <a:alpha val="1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143000" y="4197096"/>
            <a:ext cx="7040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本日ご決定いただきたい事項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1143000" y="4754880"/>
            <a:ext cx="7040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350" dirty="0">
                <a:solidFill>
                  <a:srgbClr val="EAF7F7"/>
                </a:solidFill>
                <a:latin typeface="Yu Gothic Medium" pitchFamily="34" charset="0"/>
                <a:ea typeface="Yu Gothic Medium" pitchFamily="34" charset="-122"/>
                <a:cs typeface="Yu Gothic Medium" pitchFamily="34" charset="-120"/>
              </a:rPr>
              <a:t>① 下期の価格改定方針　② 調達改革の予算枠　③ 採用計画の見直し。詳細は別紙「下期予算案」をご参照ください。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85800" y="614476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AAB8C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資料作成：経営企画部 ／ 問い合わせ：keiei@example.co.jp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FY2026 上期 経営レビュー（サンプル）</dc:title>
  <dc:subject>PptxGenJS Presentation</dc:subject>
  <dc:creator>サンプル製造株式会社</dc:creator>
  <cp:lastModifiedBy>サンプル製造株式会社</cp:lastModifiedBy>
  <cp:revision>1</cp:revision>
  <dcterms:created xsi:type="dcterms:W3CDTF">2026-07-06T10:21:53Z</dcterms:created>
  <dcterms:modified xsi:type="dcterms:W3CDTF">2026-07-06T10:21:53Z</dcterms:modified>
</cp:coreProperties>
</file>