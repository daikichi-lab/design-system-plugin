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人数（万人）</c:v>
                </c:pt>
              </c:strCache>
            </c:strRef>
          </c:tx>
          <c:spPr>
            <a:solidFill>
              <a:srgbClr val="CC8672"/>
            </a:solidFill>
            <a:effectLst/>
          </c:spPr>
          <c:invertIfNegative val="0"/>
          <c:dLbls>
            <c:numFmt formatCode="#,##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8"/>
                    </a:solidFill>
                    <a:latin typeface="Yu Gothic Medium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86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233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税理士</c:v>
                  </c:pt>
                  <c:pt idx="1">
                    <c:v>生保の営業職員</c:v>
                  </c:pt>
                  <c:pt idx="2">
                    <c:v>保険募集人</c:v>
                  </c:pt>
                  <c:pt idx="3">
                    <c:v>FP資格（延べ）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24</c:v>
                </c:pt>
                <c:pt idx="2">
                  <c:v>91</c:v>
                </c:pt>
                <c:pt idx="3">
                  <c:v>173</c:v>
                </c:pt>
              </c:numCache>
            </c:numRef>
          </c:val>
        </c:ser>
        <c:dLbls>
          <c:numFmt formatCode="#,##0.#" sourceLinked="0"/>
          <c:txPr>
            <a:bodyPr/>
            <a:lstStyle/>
            <a:p>
              <a:pPr>
                <a:defRPr b="0" i="0" strike="noStrike" sz="1200" u="none">
                  <a:solidFill>
                    <a:srgbClr val="1F2A38"/>
                  </a:solidFill>
                  <a:latin typeface="Yu Gothic Medium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6572"/>
                </a:solidFill>
                <a:latin typeface="Yu Gothic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全32枚構成の主要16枚抜粋。ゴール①「会計、自分にもできそう」。“相談役”はcoverQuoteAccentで朱。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【分解】項目=1 ／ 関係1語=単一の主張 ／ 量=なし ／ 主役=2行目のゴール文 ／ 既知→未知=セミナーへの期待（既知）→技術でなく実感がゴール（未知）。3秒スライド。技術はDay2から、は口頭。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【分解】項目=1 ／ 関係1語=単一の主張（転換の宣言） ／ 量=なし ／ 主役=l行 ／ 既知→未知=華やかな経歴（既知）→失敗が起点（未知）。【転換点①】期待→不穏。フルデッキでは章扉と連続ダークだが、抜粋版は次を明るい失敗カードにして単発ダーク。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【分解】項目=4つの失敗 ／ 関係1語=並列（形を変えた同型） ／ 量=なし ／ 主役=構造を見ない投資（共通根） ／ 既知→未知=個別の失敗談（既知）→共通根は数字から逃げたこと（未知）。【emphasis=0】本質「会計を知らなかった」への伏線。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【分解】項目=1 ／ 関係1語=単一の数字 ／ 量=概算1値（warn＝痛みの意味色） ／ 主役=statBig ／ 既知→未知=失敗の列挙（既知）→その合計の重さ（未知）。【転換点②】どん底。読み上げたら3秒黙る。金額は概算と明記（誠実ガード）。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【分解】項目=同じ「会計観」を二度 ／ 関係1語=再フレーム（誤解→訂正） ／ 量=なし ／ 主役=after（固定） ／ 既知→未知=武器という通念（既知）→防具という捉え直し（未知）。beforeを戯画化しない。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【分解】項目=3種×4属性 ／ 関係1語=精密な対応（行×列） ／ 量=なし ／ 主役=管理会計の行（末尾＝系列位置効果） ／ 既知→未知=会計は1つという通念（既知）→3つある（未知）。「これから」だけが違う、は次ページの種明かしに温存（先回り禁止）。dwellスライド。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【分解】項目=3属性 ／ 関係1語=並列（全体像＋部分） ／ 量=なし ／ 主役=「これから」（デッキの鍵語・座標文法で以後固定） ／ 既知→未知=前ページの表（既知）→管理会計だけが違う軸（未知）。【emphasis=0】。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【分解】項目=4区分の人数 ／ 関係1語=規模比較（ランキング） ／ 量=実数・比例が論点→実寸横棒 ／ 主役=FP延べ173万＝聴衆 ／ 既知→未知=自分たちの多さ（既知）→その席に誰も座っていない（未知）。値は昇順で最大が最上段。前回レビュー指摘反映：単位脚注を1行に短縮。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【分解】項目=2つの統計 ／ 関係1語=並列（KPI） ／ 量=概数2値（出典種別をsubに明記） ／ 主役=127万社（先頭＝アンカリング） ／ 既知→未知=漠然とした市場感（既知）→席の空きの規模（未知）。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【分解】項目=5科目×2期 ／ 関係1語=精密な対応（書類の顔） ＋単一の感情メッセージ→複合イディオム「主構図＋closing帯」（catalog明文化の例外。2つ目の情報関係はないので1枚可） ／ 量=架空・縦計算一致（120,000−72,000＝48,000−36,000＝12,000／前期108−66＝42−33＝9） ／ 主役=closing「読めなくて当たり前」 ／ 既知→未知=書類の威圧感（既知）→それでいい（未知）。正準形の書類風ミニチュアはGAP（起票済み）のためtable代替。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【分解】項目=全体1＋構成2 ／ 関係1語=内訳（恒等式） ／ 量=架空値・比例が論点（2,500＋1,000＝3,500 縦計算一致） ／ 主役=正味の財産＝“残り”（canonカタログ指示） ／ 既知→未知=持ち物と借金（既知）→引き算の残りがBS（未知）。構造1語テスト合格＝identity。formulaにすると額装。口頭は引き算・図は恒等式。dwell。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【分解】項目=3手順 ／ 関係1語=順序（sequence—ワークの手順そのもの） ／ 量=なし ／ 主役=「引き算する」＝会計になる一歩 ／ 既知→未知=前ページの型（既知）→自分でもできた（未知）。【peak】ゴール①を体感で証明する山場。パンチライン「はい、いま、あなたはBSを作りました」はスライドに書かず口頭（先回り禁止）。30秒本当に黙って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【分解】項目=全体1＋構成2＋入れ子2 ／ 関係1語=内訳（恒等式×2段＝STRAC家計版・canon FP行） ／ 量=収入100とした架空の指数・縦計算一致（30＋70＝100／50＋20＝70） ／ 主役=自由なお金＝残り（subEmphasis=1） ／ 既知→未知=手取りの感覚（既知）→流れの構造がPL（未知）。dwell。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【分解】項目=個人と法人の同型2行 ／ 関係1語=対比（既知→未知の写像） ＋closing帯の種明かし1行（複合イディオム） ／ 量=なし ／ 主役=右＝法人（未知側・emphasis=1） ／ 既知→未知=左に既知（今日作ったBS/PL）・右に未知（決算書）——空間もこの順。P24の読めなかった決算書をここで回収（口頭で差し戻す）。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結び。行動はただ1つ＝今夜のBS投稿。締めの2行は今日全体の要約（ゴール文とP『席』の回収）。読み上げたら静かに終わる。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77240" y="145846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法人開拓FPのための3日間チャレンジ｜DAY 1（60分）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91440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保険営業から、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社長の</a:t>
            </a:r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D98A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“相談役”</a:t>
            </a:r>
            <a:pPr algn="l" indent="0" marL="0">
              <a:lnSpc>
                <a:spcPct val="110000"/>
              </a:lnSpc>
              <a:buNone/>
            </a:pPr>
            <a:r>
              <a:rPr lang="en-US" sz="44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AAB6C4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会計を、お客様と自分を守る力に変える3日間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 主要ページ抜粋版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今日のゴール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持ち帰ってほしいのは、一言だけ。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「会計、自分にもできそう」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91640"/>
            <a:ext cx="103628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この経歴、じつは順番が逆です。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4000" b="1" spc="-20" kern="0" dirty="0">
                <a:solidFill>
                  <a:srgbClr val="D98A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全部、“失敗”から始まった。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900" b="1" spc="-20" kern="0" dirty="0">
                <a:solidFill>
                  <a:srgbClr val="AAB6C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——人生最大の、失敗の話をします。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数々の失敗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失敗は、一つじゃありませんでした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構造を見ない投資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数字を確かめず、話の勢いで大金を張った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22402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3865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焦りの上塗り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48" y="28437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損を取り返そうと、さらに大きく張った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“分散”の勘違い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散らせば安全だと思い、全部が中途半端に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8728" y="4183380"/>
            <a:ext cx="5135728" cy="1668780"/>
          </a:xfrm>
          <a:prstGeom prst="roundRect">
            <a:avLst>
              <a:gd name="adj" fmla="val 5479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329684"/>
            <a:ext cx="458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広げすぎた事業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53048" y="4786884"/>
            <a:ext cx="458708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管理できる範囲を超えて、手を出し続けた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損害は、トータルで——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95A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約10億円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※投資・事業の失敗による累計の損害額（概算）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どん底で気づいたこと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会計は、武器である前に“防具”でした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1648" y="2286000"/>
            <a:ext cx="4632808" cy="3611880"/>
          </a:xfrm>
          <a:prstGeom prst="roundRect">
            <a:avLst>
              <a:gd name="adj" fmla="val 2532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19776" y="3799332"/>
            <a:ext cx="1152144" cy="585216"/>
          </a:xfrm>
          <a:prstGeom prst="rightArrow">
            <a:avLst/>
          </a:prstGeom>
          <a:solidFill>
            <a:srgbClr val="A6432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失敗する前の僕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会計は、稼ぐための武器。専門家が使う、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難しい技術だと思っていた。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3128" y="26517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どん底で気づいたこと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193128" y="3337560"/>
            <a:ext cx="38098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会計は、自分とお客様を守る“防具”。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構造が見えれば、致命傷を避けられる。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そもそも、会計とは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“会計”は、ひとつではありません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誰のため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何のため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見る時間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財務会計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株主・銀行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実績の報告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過去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税務署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正しい納税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過去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管理会計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社長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経営の意思決定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これから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533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※セミナー用に簡略化した整理です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3つのうち、どれが大事？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社長に必要なのは、管理会計です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財務会計も税務会計も、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終わった“過去”を写す鏡。社長が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知りたいのは、いつも“これから”です。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82331F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見るのは「これから」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過去の報告ではなく、この先どうするかの数字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読む人は「社長」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税務署でも銀行でもなく、経営する本人のため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A6432E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49130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目的は「意思決定」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49130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正解探しではなく、次の一手を決めるため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担い手の数（全国・概数）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担い手の数なら、あなたたちが圧倒的です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8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単位：万人（公表値の概数）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2194560"/>
            <a:ext cx="3596335" cy="3520440"/>
          </a:xfrm>
          <a:prstGeom prst="roundRect">
            <a:avLst>
              <a:gd name="adj" fmla="val 2597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02168" y="2560320"/>
            <a:ext cx="2828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8.2万人 vs 173万人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02168" y="3456432"/>
            <a:ext cx="282823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数では圧倒的。でも経営者の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“これから”の数字の隣には、</a:t>
            </a:r>
            <a:endParaRPr lang="en-US" sz="150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まだ誰も座っていません。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経営の現場で、いま起きていること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社長の“相談相手”の席が、空いています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7446805" cy="3154680"/>
          </a:xfrm>
          <a:prstGeom prst="roundRect">
            <a:avLst>
              <a:gd name="adj" fmla="val 289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926080"/>
            <a:ext cx="671528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127</a:t>
            </a:r>
            <a:pPr algn="l" indent="0" marL="0">
              <a:buNone/>
            </a:pPr>
            <a:r>
              <a:rPr lang="en-US" sz="34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万社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67152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後継者が未定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590288"/>
            <a:ext cx="67152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中小企業の推計（経産省公表値・概数）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89805" y="2468880"/>
            <a:ext cx="2824650" cy="3154680"/>
          </a:xfrm>
          <a:prstGeom prst="roundRect">
            <a:avLst>
              <a:gd name="adj" fmla="val 3237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55565" y="2926080"/>
            <a:ext cx="20931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約6割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955565" y="4114800"/>
            <a:ext cx="209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黒字のまま休廃業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955565" y="4590288"/>
            <a:ext cx="20931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民間調査の公表値（概数）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会社の決算書（損益計算書）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この決算書、読めますか？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637215" cy="914400"/>
        </p:xfrm>
        <a:graphic>
          <a:graphicData uri="http://schemas.openxmlformats.org/drawingml/2006/table">
            <a:tbl>
              <a:tblPr/>
              <a:tblGrid>
                <a:gridCol w="3545738"/>
                <a:gridCol w="3545738"/>
                <a:gridCol w="354573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科目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当期（千円）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7F4EE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前期（千円）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3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売上高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120,000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108,000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売上原価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72,000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66,000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売上総利益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48,000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42,000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販売費及び一般管理費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36,000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33,000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営業利益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12,000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F2A38"/>
                          </a:solidFill>
                          <a:latin typeface="Yu Gothic Medium" pitchFamily="34" charset="0"/>
                          <a:ea typeface="Yu Gothic Medium" pitchFamily="34" charset="-122"/>
                          <a:cs typeface="Yu Gothic Medium" pitchFamily="34" charset="-120"/>
                        </a:rPr>
                        <a:t>9,000</a:t>
                      </a:r>
                      <a:endParaRPr lang="en-US" sz="1500" dirty="0">
                        <a:latin typeface="Yu Gothic Medium" charset="0"/>
                        <a:ea typeface="Yu Gothic Medium" charset="0"/>
                        <a:cs typeface="Yu Gothic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読めなくて、当たり前です。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※数字は架空の例（単位：千円）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ある家庭の例（※架空の数字）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持ち物−借金＝正味の財産。これがBSです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537460"/>
            <a:ext cx="4998568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2683764"/>
            <a:ext cx="47059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持ち物（資産）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3,500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75808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15888" y="2537460"/>
            <a:ext cx="4998568" cy="2076994"/>
          </a:xfrm>
          <a:prstGeom prst="roundRect">
            <a:avLst>
              <a:gd name="adj" fmla="val 4403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2192" y="2683764"/>
            <a:ext cx="4705960" cy="1784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借金（ローン）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2,500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15888" y="4724182"/>
            <a:ext cx="4998568" cy="830798"/>
          </a:xfrm>
          <a:prstGeom prst="roundRect">
            <a:avLst>
              <a:gd name="adj" fmla="val 11006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2192" y="4870486"/>
            <a:ext cx="4705960" cy="538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正味の財産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1,000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6089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8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単位：万円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30秒ワーク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頭の中だけで、やってみましょう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42562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28509" y="4046220"/>
            <a:ext cx="420624" cy="0"/>
          </a:xfrm>
          <a:prstGeom prst="line">
            <a:avLst/>
          </a:prstGeom>
          <a:noFill/>
          <a:ln w="31750">
            <a:solidFill>
              <a:srgbClr val="A643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持ち物を3つ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463186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EFEBE2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9490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借金を1つ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49133" y="3360420"/>
            <a:ext cx="3265322" cy="1371600"/>
          </a:xfrm>
          <a:prstGeom prst="roundRect">
            <a:avLst>
              <a:gd name="adj" fmla="val 6667"/>
            </a:avLst>
          </a:prstGeom>
          <a:solidFill>
            <a:srgbClr val="A6432E"/>
          </a:solidFill>
          <a:ln w="9525">
            <a:solidFill>
              <a:srgbClr val="DED8CC"/>
            </a:solidFill>
            <a:prstDash val="solid"/>
          </a:ln>
          <a:effectLst>
            <a:outerShdw sx="100000" sy="100000" kx="0" ky="0" algn="bl" rotWithShape="0" blurRad="177800" dist="76200" dir="5400000">
              <a:srgbClr val="1F2A3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95437" y="3506724"/>
            <a:ext cx="297271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247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引き算する</a:t>
            </a:r>
            <a:endParaRPr lang="en-US" sz="2470" dirty="0"/>
          </a:p>
        </p:txBody>
      </p:sp>
      <p:sp>
        <p:nvSpPr>
          <p:cNvPr id="13" name="Text 11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お金の流れ（収入を100とした架空の例）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この流れが、そのままPLです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537460"/>
            <a:ext cx="3289706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2683764"/>
            <a:ext cx="299709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収入</a:t>
            </a:r>
            <a:endParaRPr lang="en-US" sz="1900" dirty="0"/>
          </a:p>
          <a:p>
            <a:pPr algn="ctr" indent="0" marL="0">
              <a:lnSpc>
                <a:spcPct val="142000"/>
              </a:lnSpc>
              <a:buNone/>
            </a:pPr>
            <a:r>
              <a:rPr lang="en-US" sz="150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66946" y="2537460"/>
            <a:ext cx="640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＝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07026" y="2537460"/>
            <a:ext cx="3289706" cy="872338"/>
          </a:xfrm>
          <a:prstGeom prst="roundRect">
            <a:avLst>
              <a:gd name="adj" fmla="val 1048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53330" y="2683764"/>
            <a:ext cx="2997098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税・社会保険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30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707026" y="3519526"/>
            <a:ext cx="3289706" cy="2035454"/>
          </a:xfrm>
          <a:prstGeom prst="roundRect">
            <a:avLst>
              <a:gd name="adj" fmla="val 4492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53330" y="3665830"/>
            <a:ext cx="2997098" cy="174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手取り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70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24749" y="3519526"/>
            <a:ext cx="3289706" cy="1375519"/>
          </a:xfrm>
          <a:prstGeom prst="roundRect">
            <a:avLst>
              <a:gd name="adj" fmla="val 6648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1053" y="3665830"/>
            <a:ext cx="2997098" cy="108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生活費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5865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50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24749" y="5004772"/>
            <a:ext cx="3289706" cy="550208"/>
          </a:xfrm>
          <a:prstGeom prst="roundRect">
            <a:avLst>
              <a:gd name="adj" fmla="val 16619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1053" y="5050492"/>
            <a:ext cx="2997098" cy="4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自由なお金</a:t>
            </a:r>
            <a:pPr algn="ctr" indent="0" marL="0">
              <a:lnSpc>
                <a:spcPct val="142000"/>
              </a:lnSpc>
              <a:buNone/>
            </a:pPr>
            <a:r>
              <a:rPr lang="en-US" sz="135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　20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" y="81838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個人から、法人へ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20" kern="0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法人も、まったく同じです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FEBE2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86000"/>
            <a:ext cx="5090008" cy="3017520"/>
          </a:xfrm>
          <a:prstGeom prst="roundRect">
            <a:avLst>
              <a:gd name="adj" fmla="val 3030"/>
            </a:avLst>
          </a:prstGeom>
          <a:solidFill>
            <a:srgbClr val="EDE3DA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A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個人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今日、あなたが作ったもの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持ち物 − 借金 ＝ 正味の財産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収入 − 税・生活費 ＝ 自由なお金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1648" y="26700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2331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法人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81648" y="3182112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572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会社の決算書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1648" y="3703320"/>
            <a:ext cx="4175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資産 − 負債 ＝ 純資産</a:t>
            </a:r>
            <a:endParaRPr lang="en-US" sz="1500" dirty="0"/>
          </a:p>
          <a:p>
            <a:pPr algn="l" marL="177800" indent="-177800">
              <a:lnSpc>
                <a:spcPct val="14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F2A38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売上 − 費用 ＝ 利益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376672"/>
            <a:ext cx="106372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900" b="1" dirty="0">
                <a:solidFill>
                  <a:srgbClr val="A643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違うのは、“ゼロの数”だけ。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3日間チャレンジ Day 1（抜粋）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000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7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77240" y="1412748"/>
            <a:ext cx="128016" cy="128016"/>
          </a:xfrm>
          <a:prstGeom prst="rect">
            <a:avLst/>
          </a:prstGeom>
          <a:solidFill>
            <a:srgbClr val="A6432E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C867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Day 1 おわりに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会計は、特別な人のものじゃない。</a:t>
            </a:r>
            <a:endParaRPr lang="en-US" sz="3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200" b="1" spc="-20" kern="0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“相談役”の席は、空いています。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A6432E"/>
          </a:solidFill>
          <a:ln/>
          <a:effectLst>
            <a:outerShdw sx="100000" sy="100000" kx="0" ky="0" algn="bl" rotWithShape="0" blurRad="127000" dist="50800" dir="5400000">
              <a:srgbClr val="1F2A3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41970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4E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今夜：自分のBSを1枚、FBグループへ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4440" y="4754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F4E8E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紙1枚・3行でOK。投稿された方にDay 1特典を</a:t>
            </a:r>
            <a:endParaRPr lang="en-US" sz="13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F4E8E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お渡しします。売り込みは一切しません。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6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2｜明日 同時刻｜「黒字なのにお金が残らない」の謎を解く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Day1｜保険営業から、社長の“相談役”へ（主要ページ抜粋）</dc:title>
  <dc:subject>PptxGenJS Presentation</dc:subject>
  <dc:creator>pptx-creation-plugin</dc:creator>
  <cp:lastModifiedBy>pptx-creation-plugin</cp:lastModifiedBy>
  <cp:revision>1</cp:revision>
  <dcterms:created xsi:type="dcterms:W3CDTF">2026-07-09T10:43:55Z</dcterms:created>
  <dcterms:modified xsi:type="dcterms:W3CDTF">2026-07-09T10:43:55Z</dcterms:modified>
</cp:coreProperties>
</file>