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932688"/>
            <a:ext cx="13716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8412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FPのための法人開拓 3日間チャレンジ  ｜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保険営業から、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社長の</a:t>
            </a:r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“相談役”</a:t>
            </a:r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へ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1371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886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Day1　会計は、あなたの武器になる前に “防具” になる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SET 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 ― 3つのお約束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830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顔出し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カメラはONで。表情が見える場に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したいからです。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7830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2395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20440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問いかけには必ず反応を。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“見るだけ”は卒業です。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7830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395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09360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毎日の宿題をグループに投稿。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アウトプットが最速の学びです。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守れない方は退出をお願いします ― </a:t>
            </a:r>
            <a:pPr algn="ctr" indent="0" marL="0">
              <a:buNone/>
            </a:pPr>
            <a:r>
              <a:rPr lang="en-US" sz="145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ここは、本気の人だけの場です。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TODAY'S GOAL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今日、“技術” は教えません。</a:t>
            </a:r>
            <a:endParaRPr lang="en-US" sz="2600" dirty="0"/>
          </a:p>
          <a:p>
            <a:pPr algn="ctr" indent="0" marL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2600" b="1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持ち帰ってほしいのは、この一言だけ。</a:t>
            </a:r>
            <a:endParaRPr lang="en-US" sz="2600" dirty="0"/>
          </a:p>
          <a:p>
            <a:pPr algn="ctr" indent="0" marL="0">
              <a:lnSpc>
                <a:spcPct val="125000"/>
              </a:lnSpc>
              <a:spcBef>
                <a:spcPts val="2600"/>
              </a:spcBef>
              <a:buNone/>
            </a:pPr>
            <a:r>
              <a:rPr lang="en-US" sz="38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「会計、自分にもできそう」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60分後、チャットにこの一言を打てたら、Day1は成功です。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PROFILE 1/2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僕も、保険の世界の出身です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35608" y="164592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43560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94560" y="1929384"/>
            <a:ext cx="2011680" cy="0"/>
          </a:xfrm>
          <a:prstGeom prst="line">
            <a:avLst/>
          </a:prstGeom>
          <a:noFill/>
          <a:ln w="19050">
            <a:solidFill>
              <a:srgbClr val="D8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三井住友海上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損保の営業からキャリアを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スタート。数字は“ノルマ”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でしかなかった時代。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7408" y="164592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66360" y="1929384"/>
            <a:ext cx="2011680" cy="0"/>
          </a:xfrm>
          <a:prstGeom prst="line">
            <a:avLst/>
          </a:prstGeom>
          <a:noFill/>
          <a:ln w="19050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429000" y="285292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保険の外へ。お金の“全体”を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扱う仕事を求めて、自分で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看板を掲げる。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79208" y="164592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0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会計の会社の代表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00800" y="285292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現在は会計の会社を経営。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“数字の翻訳者”として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経営者の隣に立つ。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皆さんと同じ場所から始めて、いま会計側にいる人間です。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PROFILE 2/2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いまは、こんな仕事をしています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794760" cy="2194560"/>
          </a:xfrm>
          <a:prstGeom prst="roundRect">
            <a:avLst>
              <a:gd name="adj" fmla="val 25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0195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上場企業・銀行での会計研修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決算書の読み方・活かし方を、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プロ向けに教える側にいます。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“教えられる水準”で会計を扱う仕事です。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3794760" cy="2194560"/>
          </a:xfrm>
          <a:prstGeom prst="roundRect">
            <a:avLst>
              <a:gd name="adj" fmla="val 2500"/>
            </a:avLst>
          </a:prstGeom>
          <a:solidFill>
            <a:srgbClr val="FAF5E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90195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TOTのLPと共同経営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6974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保険業界の頂点にいる方と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一緒に事業をしています。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トップ層ほど「会計」を武器にしています。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…と言うと、順風満帆に聞こえますよね。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でも――この経歴、順番が逆なんです。</a:t>
            </a:r>
            <a:endParaRPr lang="en-US" sz="2700" dirty="0"/>
          </a:p>
          <a:p>
            <a:pPr algn="ctr" indent="0" marL="0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全部、人生最大の “失敗” から始まっています。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CHAPTER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失敗の話</a:t>
            </a:r>
            <a:endParaRPr lang="en-US" sz="4000" dirty="0"/>
          </a:p>
          <a:p>
            <a:pPr algn="ctr" indent="0" marL="0">
              <a:lnSpc>
                <a:spcPct val="125000"/>
              </a:lnSpc>
              <a:spcBef>
                <a:spcPts val="2000"/>
              </a:spcBef>
              <a:buNone/>
            </a:pPr>
            <a:r>
              <a:rPr lang="en-US" sz="17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数字から逃げた男の話 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FAILURE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僕がやった失敗は、ぜんぶ“数字の外”にあった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931920" cy="1188720"/>
          </a:xfrm>
          <a:prstGeom prst="roundRect">
            <a:avLst>
              <a:gd name="adj" fmla="val 384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00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構造を見ずに投資した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20848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「儲かりそう」という話だけで判断。その事業の数字の構造は、一度も見なかった。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3931920" cy="1188720"/>
          </a:xfrm>
          <a:prstGeom prst="roundRect">
            <a:avLst>
              <a:gd name="adj" fmla="val 384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7375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700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取り返そうと焦った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12080" y="20848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損が出るほど、大きく張る。冷静な計算ではなく、感情で意思決定していた。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3931920" cy="1188720"/>
          </a:xfrm>
          <a:prstGeom prst="roundRect">
            <a:avLst>
              <a:gd name="adj" fmla="val 384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72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“分散”を勘違いした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手を広げること＝分散だと思っていた。実際はリスクの掛け算をしていただけ。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44368"/>
            <a:ext cx="3931920" cy="1188720"/>
          </a:xfrm>
          <a:prstGeom prst="roundRect">
            <a:avLst>
              <a:gd name="adj" fmla="val 384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072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広げすぎて、見えなくなった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12080" y="34564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事業も投資も増えるほど、全体像は不明に。把握できないものは、守れない。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共通点：どの意思決定にも、“会計の視点”がひとつも無い。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COST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その代償 ― 損害は、トータルで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</a:t>
            </a:r>
            <a:pPr algn="ctr" indent="0" marL="0">
              <a:buNone/>
            </a:pPr>
            <a:r>
              <a:rPr lang="en-US" sz="7600" b="1" dirty="0">
                <a:solidFill>
                  <a:srgbClr val="E86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10億円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お金だけではなく、時間・信用・そして家族の安心まで失いかけました。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ROCK BOTTOM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E4E9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ある朝、革靴を履いた瞬間、</a:t>
            </a:r>
            <a:endParaRPr lang="en-US" sz="2600" dirty="0"/>
          </a:p>
          <a:p>
            <a:pPr algn="ctr"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足が動かなくなった。</a:t>
            </a:r>
            <a:endParaRPr lang="en-US" sz="2600" dirty="0"/>
          </a:p>
          <a:p>
            <a:pPr algn="ctr" indent="0" marL="0">
              <a:lnSpc>
                <a:spcPct val="125000"/>
              </a:lnSpc>
              <a:spcBef>
                <a:spcPts val="3000"/>
              </a:spcBef>
              <a:buNone/>
            </a:pPr>
            <a:r>
              <a:rPr lang="en-US" sz="17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ここから、僕の本当の仕事が始まりました。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REAL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失敗の本質は、たった1つでした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949440" cy="1737360"/>
          </a:xfrm>
          <a:prstGeom prst="roundRect">
            <a:avLst>
              <a:gd name="adj" fmla="val 3684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920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僕は、会計を知らなかった。</a:t>
            </a:r>
            <a:endParaRPr lang="en-US" sz="2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決算書の数字も、読めていなかった。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運が悪かったのでも、才能が無かったのでもなく、“計器を見ずに操縦していた”だけ。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LESSON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会計は、武器である前に “防具”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1828800"/>
            <a:ext cx="1737360" cy="1737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防具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攻める前に、守る。</a:t>
            </a:r>
            <a:endParaRPr lang="en-US" sz="2000" dirty="0"/>
          </a:p>
          <a:p>
            <a:pPr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4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会計は、自分の会社と、お客様の会社を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“沈まない船” にするための道具です。</a:t>
            </a:r>
            <a:endParaRPr lang="en-US" sz="2000" dirty="0"/>
          </a:p>
          <a:p>
            <a:pPr indent="0" marL="0">
              <a:lnSpc>
                <a:spcPct val="125000"/>
              </a:lnSpc>
              <a:spcBef>
                <a:spcPts val="1200"/>
              </a:spcBef>
              <a:buNone/>
            </a:pPr>
            <a:r>
              <a:rPr lang="en-US" sz="125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10億円の授業料で学んだ、いちばん大事な結論です。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だからこの3日間は、“売るための知識”ではなく“守るための視点”から話します。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IT FEELS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「会計」と聞くと、こう感じますよね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886200" cy="100584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“難しそう…”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886200" cy="100584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“税金の話でしょ？”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886200" cy="100584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834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“先生（税理士）に任せてる”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09160" y="2834640"/>
            <a:ext cx="3886200" cy="100584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834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“自分には関係ない”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わかります。僕もそうでした。― でもそれ、会計の“ある一部”しか見ていないんです。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TYPES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実は、「会計」は3つある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財務会計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税務会計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管理会計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誰のため？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銀行・株主など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外部の人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税務署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社長自身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見る時間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過去の実績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過去の所得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これから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報告する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納税する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33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経営の意思決定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062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普段イメージする「会計」は、左の2つだけ。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ONE THAT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社長に必要なのは、「管理会計」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691640"/>
            <a:ext cx="6949440" cy="1600200"/>
          </a:xfrm>
          <a:prstGeom prst="roundRect">
            <a:avLst>
              <a:gd name="adj" fmla="val 4000"/>
            </a:avLst>
          </a:prstGeom>
          <a:solidFill>
            <a:srgbClr val="FAF5E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87452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過去の数字でも、税金の数字でもない。</a:t>
            </a:r>
            <a:endParaRPr lang="en-US" sz="1600" dirty="0"/>
          </a:p>
          <a:p>
            <a:pPr algn="ctr" indent="0" marL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社長の “これから” を決めるための数字。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そしてここが重要 ― 管理会計は税理士の独占業務ではありません。</a:t>
            </a:r>
            <a:endParaRPr lang="en-US" sz="1300" dirty="0"/>
          </a:p>
          <a:p>
            <a:pPr algn="ctr" indent="0" marL="0"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つまり、“これから”の数字の隣に座る席は、資格が無くても座れる席です。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DON'T WORRY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専門家になれ、とは言いません。</a:t>
            </a:r>
            <a:endParaRPr lang="en-US" sz="2600" dirty="0"/>
          </a:p>
          <a:p>
            <a:pPr algn="ctr" indent="0" marL="0">
              <a:lnSpc>
                <a:spcPct val="125000"/>
              </a:lnSpc>
              <a:spcBef>
                <a:spcPts val="1600"/>
              </a:spcBef>
              <a:buNone/>
            </a:pPr>
            <a:r>
              <a:rPr lang="en-US" sz="30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社長と “一緒に読める” だけでいい。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簿記も仕訳も不要。必要なのは“見方”だけです。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WE DO THIS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なぜ、この活動をやっているのか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数字に強く、日本を支える経営者を、増やす。</a:t>
            </a:r>
            <a:endParaRPr lang="en-US" sz="2400" dirty="0"/>
          </a:p>
          <a:p>
            <a:pPr algn="ctr" indent="0" marL="0">
              <a:lnSpc>
                <a:spcPct val="130000"/>
              </a:lnSpc>
              <a:spcBef>
                <a:spcPts val="1800"/>
              </a:spcBef>
              <a:buNone/>
            </a:pPr>
            <a:r>
              <a:rPr lang="en-US" sz="14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会計研修も、共同経営も、この3日間チャレンジも――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全部、この一本の線の上にあります。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そして、その線の“最前列”に立てるのが、実は皆さんFPです。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経営者の数字に関われる人は、</a:t>
            </a:r>
            <a:endParaRPr lang="en-US" sz="2800" dirty="0"/>
          </a:p>
          <a:p>
            <a:pPr algn="ctr"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この国に、どれだけいるでしょうか？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NUMBERS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担い手の数は、“桁” が違う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税理士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673352"/>
            <a:ext cx="292608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825496" y="1645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8.2万人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生保営業職員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2295144"/>
            <a:ext cx="773804" cy="329184"/>
          </a:xfrm>
          <a:prstGeom prst="rect">
            <a:avLst/>
          </a:prstGeom>
          <a:solidFill>
            <a:srgbClr val="5A6B8F"/>
          </a:solidFill>
          <a:ln/>
        </p:spPr>
      </p:sp>
      <p:sp>
        <p:nvSpPr>
          <p:cNvPr id="12" name="Text 10"/>
          <p:cNvSpPr/>
          <p:nvPr/>
        </p:nvSpPr>
        <p:spPr>
          <a:xfrm>
            <a:off x="3306692" y="22677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24万人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募集人登録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2916936"/>
            <a:ext cx="2934008" cy="329184"/>
          </a:xfrm>
          <a:prstGeom prst="rect">
            <a:avLst/>
          </a:prstGeom>
          <a:solidFill>
            <a:srgbClr val="8493B3"/>
          </a:solidFill>
          <a:ln/>
        </p:spPr>
      </p:sp>
      <p:sp>
        <p:nvSpPr>
          <p:cNvPr id="15" name="Text 13"/>
          <p:cNvSpPr/>
          <p:nvPr/>
        </p:nvSpPr>
        <p:spPr>
          <a:xfrm>
            <a:off x="5466896" y="28895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91万人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FP資格者（延べ）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3538728"/>
            <a:ext cx="5577840" cy="3291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110728" y="35112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173万人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“数字の専門家”より、“経営者に会えている人”の方が、圧倒的に多い。</a:t>
            </a:r>
            <a:endParaRPr lang="en-US" sz="1250" dirty="0"/>
          </a:p>
          <a:p>
            <a:pPr algn="ctr"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会計を届けられる可能性を持っているのは、実はあなたたちです。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EMPTY SEAT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“これから”を相談できる相手が、いない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794760" cy="1965960"/>
          </a:xfrm>
          <a:prstGeom prst="roundRect">
            <a:avLst>
              <a:gd name="adj" fmla="val 2791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4708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127万社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後継者が決まっていない中小企業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誰にも“この先”を相談できないまま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3794760" cy="1965960"/>
          </a:xfrm>
          <a:prstGeom prst="roundRect">
            <a:avLst>
              <a:gd name="adj" fmla="val 2791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84708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黒字でも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983480" y="2606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休廃業・解散する会社が後を絶たない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83480" y="3200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潰れたのではなく、“畳んだ”会社たち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税理士は“過去と税金”で手一杯。― 相談役の席は、空いたままです。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 BE HONEST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先に、正直にお伝えします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7132320" cy="1828800"/>
          </a:xfrm>
          <a:prstGeom prst="roundRect">
            <a:avLst>
              <a:gd name="adj" fmla="val 35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8288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最終日（Day3）に、有料講座のご案内をします。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でも、今日と明日は、出し惜しみなく全部無料で渡します。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聞いた上で「要らない」も大歓迎。判断材料を全部見せてから選んでもらうのが、僕の流儀です。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 ×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この挑戦は、“三方よし”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645920"/>
            <a:ext cx="2240280" cy="2240280"/>
          </a:xfrm>
          <a:prstGeom prst="ellipse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78308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経営者よし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“これから”を一緒に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考える相談相手を得る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240280" cy="22402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78308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FPよし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保険の枠を超えて、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選ばれる理由ができる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645920"/>
            <a:ext cx="2240280" cy="2240280"/>
          </a:xfrm>
          <a:prstGeom prst="ellipse">
            <a:avLst/>
          </a:prstGeom>
          <a:solidFill>
            <a:srgbClr val="5A6B8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78308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社会よし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会計が広まり、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潰れない会社が増える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誰かの我慢の上に成り立つ仕組みではなく、全員が前に進む仕組みです。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525780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会計は、難しくない</a:t>
            </a:r>
            <a:endParaRPr lang="en-US" sz="4000" dirty="0"/>
          </a:p>
          <a:p>
            <a:pPr algn="ctr" indent="0" marL="0">
              <a:lnSpc>
                <a:spcPct val="125000"/>
              </a:lnSpc>
              <a:spcBef>
                <a:spcPts val="2000"/>
              </a:spcBef>
              <a:buNone/>
            </a:pPr>
            <a:r>
              <a:rPr lang="en-US" sz="17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個人も、法人も、同じ 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 YOU READ THIS?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突然ですが ― これ、読めますか？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017520" cy="2331720"/>
          </a:xfrm>
          <a:prstGeom prst="rect">
            <a:avLst/>
          </a:prstGeom>
          <a:solidFill>
            <a:srgbClr val="FDFDFD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損益計算書（PL）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売上高　　　　　　  512,340,000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売上原価　　　　　  318,120,000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販売費及び一般管理費 152,480,000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　　　　　   41,740,000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経常利益　　　　　   38,910,000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当期純利益　　　　   24,560,000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1600200"/>
            <a:ext cx="3017520" cy="2331720"/>
          </a:xfrm>
          <a:prstGeom prst="rect">
            <a:avLst/>
          </a:prstGeom>
          <a:solidFill>
            <a:srgbClr val="FDFDFD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貸借対照表（BS）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21031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流動資産　　　　　  186,220,000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固定資産　　　　　  243,750,000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流動負債　　　　　  128,340,000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固定負債　　　　　  164,890,000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純資産　　　　　　  136,740,000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A2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負債純資産合計　　  429,970,000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読めなくて、当たり前。それでいいんです。</a:t>
            </a:r>
            <a:endParaRPr lang="en-US" sz="1500" dirty="0"/>
          </a:p>
          <a:p>
            <a:pPr algn="ctr"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60分後には、この2枚の“正体”がわかります。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 ALREADY DO 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実は皆さん、もう“会計”をやっています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保険提案でやっていること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会計の世界での呼び名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3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お客様の資産・負債を整理する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15968" y="20574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205740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AF5E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057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BS（貸借対照表）を見る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770632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3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706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収入と支出のバランスを見る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15968" y="27706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2770632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AF5E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7706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PL（損益計算書）を見る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83864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3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838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将来の収支をシミュレーションする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15968" y="34838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3483864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AF5E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4838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管理会計そのもの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個人で当たり前にやっている“あの見方”。名前が付いていなかっただけです。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PERSONAL BS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あなたの“正味の財産” ― これがBS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600200"/>
            <a:ext cx="2834640" cy="24688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78308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持ち物（資産）</a:t>
            </a:r>
            <a:endParaRPr lang="en-US" sz="1700" dirty="0"/>
          </a:p>
          <a:p>
            <a:pPr algn="ctr" indent="0" marL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現金・預金</a:t>
            </a:r>
            <a:endParaRPr lang="en-US" sz="1700" dirty="0"/>
          </a:p>
          <a:p>
            <a:pPr algn="ctr" indent="0" marL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家・車</a:t>
            </a:r>
            <a:endParaRPr lang="en-US" sz="1700" dirty="0"/>
          </a:p>
          <a:p>
            <a:pPr algn="ctr" indent="0" marL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保険・投資…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00600" y="1600200"/>
            <a:ext cx="2834640" cy="1005840"/>
          </a:xfrm>
          <a:prstGeom prst="rect">
            <a:avLst/>
          </a:prstGeom>
          <a:solidFill>
            <a:srgbClr val="8493B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借金（負債）　住宅ローンなど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2715768"/>
            <a:ext cx="2834640" cy="1353312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7157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正味の財産（純資産）</a:t>
            </a:r>
            <a:endParaRPr lang="en-US" sz="1550" dirty="0"/>
          </a:p>
          <a:p>
            <a:pPr algn="ctr" indent="0" marL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持ち物 − 借金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15968" y="2514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この“ある時点の写真”を1枚の表にしたものが、BS（貸借対照表）です。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TRY IT NOW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30秒だけ ― 頭の中でやってみてください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持ち物を3つ、思い浮かべる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現金・家・車、なんでもOK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借金を1つ、思い浮かべる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住宅ローン、無ければ「ゼロ」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64592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引き算する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残ったのが“正味の財産”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はい。いま、あなたはBSを作りました。</a:t>
            </a:r>
            <a:endParaRPr lang="en-US" sz="1700" dirty="0"/>
          </a:p>
          <a:p>
            <a:pPr algn="ctr"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―「できそう」ではなく、もう「できた」んです。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MONEY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お金の流れを1本にする ― これがPL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9659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38528" y="2331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58568" y="19659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8493B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58568" y="19659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税・社会保険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▲30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30168" y="2331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50208" y="19659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50208" y="19659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手取り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21808" y="2331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41848" y="19659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8493B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41848" y="19659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生活費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▲50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13448" y="23317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33488" y="19659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C9A22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33488" y="19659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自由なお金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15727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入ってきて、引かれて、残る。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79476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この“一定期間の流れ”を1本にしたものが、PL（損益計算書）。</a:t>
            </a:r>
            <a:endParaRPr lang="en-US" sz="140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最後に残る「自由なお金」を増やすには、どこを動かす？ ― それを考えるのが管理会計です。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SAME FOR COMPANIES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実は、法人もまったく同じ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 − 借金 ＝ 正味の財産</a:t>
            </a:r>
            <a:endParaRPr lang="en-US" sz="1350" dirty="0"/>
          </a:p>
          <a:p>
            <a:pPr algn="ctr"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35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 − 支出 ＝ 自由なお金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37760" y="164592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AF5E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12080" y="2331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 − 負債 ＝ 純資産（BS）</a:t>
            </a:r>
            <a:endParaRPr lang="en-US" sz="1350" dirty="0"/>
          </a:p>
          <a:p>
            <a:pPr algn="ctr"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350" b="1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 − 費用 ＝ 利益（PL）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24528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743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違うのは、“ゼロの数”だけ。</a:t>
            </a:r>
            <a:endParaRPr lang="en-US" sz="1600" dirty="0"/>
          </a:p>
          <a:p>
            <a:pPr algn="ctr"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個人で使っている見方を、そのまま決算書に向ければいい。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明日からが、本番です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黒字なのに、金が残らない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実在しそうな会社の決算書を使い、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「黒字倒産の謎」をあなた自身が解きます。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今日の“個人の見方”がそのまま武器になります。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FAF5E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“相談役”への道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会計を入口に、社長の隣の席に座るまでの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具体的なステップを渡します。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3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（有料講座のご案内もこの日にします）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明日は“謎解き”。今日より、もっと面白くなります。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30352" y="452628"/>
            <a:ext cx="100584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E77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今夜の宿題 ― “自分のBS”を書く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E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4937760" cy="2286000"/>
          </a:xfrm>
          <a:prstGeom prst="roundRect">
            <a:avLst>
              <a:gd name="adj" fmla="val 24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828800"/>
            <a:ext cx="4434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やること（10分でOK）</a:t>
            </a:r>
            <a:endParaRPr lang="en-US" sz="1300" dirty="0"/>
          </a:p>
          <a:p>
            <a:pPr indent="0" marL="0">
              <a:lnSpc>
                <a:spcPct val="125000"/>
              </a:lnSpc>
              <a:spcBef>
                <a:spcPts val="1200"/>
              </a:spcBef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自分の「持ち物」と「借金」を書き出す</a:t>
            </a:r>
            <a:endParaRPr lang="en-US" sz="1300" dirty="0"/>
          </a:p>
          <a:p>
            <a:pPr indent="0" marL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引き算して“正味の財産”を出す</a:t>
            </a:r>
            <a:endParaRPr lang="en-US" sz="1300" dirty="0"/>
          </a:p>
          <a:p>
            <a:pPr indent="0" marL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気づいたことを一言そえて、FBグループに投稿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627632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81051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投稿者全員に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Day1特典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「個人BS記入シート＋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決算書ミニ用語集」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書いた瞬間、会計は“他人の話”から“自分ごと”に変わります。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会計は、特別な人のものじゃない。</a:t>
            </a:r>
            <a:endParaRPr lang="en-US" sz="2700" dirty="0"/>
          </a:p>
          <a:p>
            <a:pPr algn="ctr" indent="0" marL="0">
              <a:lnSpc>
                <a:spcPct val="125000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AEB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そして――</a:t>
            </a:r>
            <a:endParaRPr lang="en-US" sz="2700" dirty="0"/>
          </a:p>
          <a:p>
            <a:pPr algn="ctr" indent="0" marL="0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E4C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相談役の席は、ガラ空きで待っている。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 rot="2700000">
            <a:off x="4503420" y="3886200"/>
            <a:ext cx="13716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また明日、この場所で。｜ Day2  20:00 START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6676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大吉会計株式会社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保険営業から、社長の“相談役”へ Day1</dc:title>
  <dc:subject>PptxGenJS Presentation</dc:subject>
  <dc:creator>大吉会計株式会社</dc:creator>
  <cp:lastModifiedBy>大吉会計株式会社</cp:lastModifiedBy>
  <cp:revision>1</cp:revision>
  <dcterms:created xsi:type="dcterms:W3CDTF">2026-07-08T02:39:30Z</dcterms:created>
  <dcterms:modified xsi:type="dcterms:W3CDTF">2026-07-08T02:39:30Z</dcterms:modified>
</cp:coreProperties>
</file>